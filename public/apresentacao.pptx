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 saveSubsetFonts="1" embedTrueTypeFonts="true">
  <p:sldMasterIdLst>
    <p:sldMasterId id="2147483648" r:id="rId1"/>
  </p:sldMasterIdLst>
  <p:sldIdLst>
    <p:sldId id="256" r:id="rId6"/>
    <p:sldId id="257" r:id="rId7"/>
    <p:sldId id="260" r:id="rId10"/>
    <p:sldId id="262" r:id="rId12"/>
    <p:sldId id="263" r:id="rId13"/>
  </p:sldIdLst>
  <p:sldSz cx="18288000" cy="10287000"/>
  <p:notesSz cx="6858000" cy="9144000"/>
  <p:embeddedFontLst>
    <p:embeddedFont>
      <p:font typeface="Poppins Bold" charset="1" panose="00000800000000000000"/>
      <p:regular r:id="rId16"/>
    </p:embeddedFont>
    <p:embeddedFont>
      <p:font typeface="Poppins" charset="1" panose="00000500000000000000"/>
      <p:regular r:id="rId17"/>
    </p:embeddedFont>
    <p:embeddedFont>
      <p:font typeface="Open Sans" charset="1" panose="020B0606030504020204"/>
      <p:regular r:id="rId18"/>
    </p:embeddedFont>
    <p:embeddedFont>
      <p:font typeface="Poppins Bold Italics" charset="1" panose="00000800000000000000"/>
      <p:regular r:id="rId19"/>
    </p:embeddedFont>
    <p:embeddedFont>
      <p:font typeface="Poppins Italics" charset="1" panose="00000500000000000000"/>
      <p:regular r:id="rId20"/>
    </p:embeddedFont>
  </p:embeddedFontLst>
  <p:defaultTextStyle>
    <ns2:defPPr>
      <ns2:defRPr lang="en-US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37768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2319003" y="-2316974"/>
            <a:ext cx="4066506" cy="406650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2086511" y="2987782"/>
            <a:ext cx="4311437" cy="431143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2319003" y="8537468"/>
            <a:ext cx="4066506" cy="4066506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5400000">
            <a:off x="212313" y="4495698"/>
            <a:ext cx="2591208" cy="1295604"/>
            <a:chOff x="0" y="0"/>
            <a:chExt cx="660400" cy="330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1295604" y="6003615"/>
            <a:ext cx="2591208" cy="1295604"/>
            <a:chOff x="0" y="0"/>
            <a:chExt cx="660400" cy="33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10800000">
            <a:off x="-1295604" y="2987782"/>
            <a:ext cx="2591208" cy="1295604"/>
            <a:chOff x="0" y="0"/>
            <a:chExt cx="660400" cy="330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5486400" y="2468880"/>
            <a:ext cx="1243584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7279"/>
              </a:lnSpc>
              <a:defRPr sz="5200" b="1">
                <a:solidFill>
                  <a:srgbClr val="3468A2"/>
                </a:solidFill>
                <a:latin typeface="Poppins"/>
              </a:defRPr>
            </a:pPr>
            <a:r>
              <a:t>ENTERPRISE MAIL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486400" y="3657600"/>
            <a:ext cx="12435840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5880"/>
              </a:lnSpc>
              <a:defRPr sz="4200" b="1">
                <a:solidFill>
                  <a:srgbClr val="1F497D"/>
                </a:solidFill>
                <a:latin typeface="Poppins"/>
              </a:defRPr>
            </a:pPr>
            <a:r>
              <a:t>SETUP WIZARD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486400" y="5212080"/>
            <a:ext cx="12435840" cy="29260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4480"/>
              </a:lnSpc>
              <a:spcAft>
                <a:spcPts val="2400"/>
              </a:spcAft>
              <a:defRPr sz="2200" b="0">
                <a:solidFill>
                  <a:srgbClr val="64748B"/>
                </a:solidFill>
                <a:latin typeface="Poppins"/>
              </a:defRPr>
            </a:pPr>
            <a:r>
              <a:t>Diagnóstico e Dimensionamento de Infraestrutura Corporativa</a:t>
            </a:r>
          </a:p>
          <a:p>
            <a:pPr algn="ctr">
              <a:spcAft>
                <a:spcPts val="600"/>
              </a:spcAft>
              <a:defRPr sz="1600" b="1">
                <a:solidFill>
                  <a:srgbClr val="1F497D"/>
                </a:solidFill>
                <a:latin typeface="Poppins"/>
              </a:defRPr>
            </a:pPr>
            <a:r>
              <a:t>Victor Hugo  •  Pedro Lucas  •  Enzo Katsumoto  •  Luiz Seisdedo</a:t>
            </a:r>
          </a:p>
          <a:p>
            <a:pPr algn="ctr">
              <a:defRPr sz="1600" b="1">
                <a:solidFill>
                  <a:srgbClr val="1F497D"/>
                </a:solidFill>
                <a:latin typeface="Poppins"/>
              </a:defRPr>
            </a:pPr>
            <a:r>
              <a:t>Danilo Dezani  •  Vinicius Sulpicio  •  Bruno Viera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086100"/>
            <a:chOff x="0" y="0"/>
            <a:chExt cx="4816593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12800"/>
            </a:xfrm>
            <a:custGeom>
              <a:avLst/>
              <a:gdLst/>
              <a:ahLst/>
              <a:cxnLst/>
              <a:rect r="r" b="b" t="t" l="l"/>
              <a:pathLst>
                <a:path h="81280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27240" y="5520817"/>
            <a:ext cx="4767011" cy="4766183"/>
            <a:chOff x="0" y="0"/>
            <a:chExt cx="6356014" cy="6354911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951803" y="954010"/>
              <a:ext cx="4450201" cy="4450201"/>
              <a:chOff x="0" y="0"/>
              <a:chExt cx="879052" cy="879052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79052" cy="879052"/>
              </a:xfrm>
              <a:custGeom>
                <a:avLst/>
                <a:gdLst/>
                <a:ahLst/>
                <a:cxnLst/>
                <a:rect r="r" b="b" t="t" l="l"/>
                <a:pathLst>
                  <a:path h="879052" w="879052">
                    <a:moveTo>
                      <a:pt x="11598" y="0"/>
                    </a:moveTo>
                    <a:lnTo>
                      <a:pt x="867454" y="0"/>
                    </a:lnTo>
                    <a:cubicBezTo>
                      <a:pt x="873860" y="0"/>
                      <a:pt x="879052" y="5193"/>
                      <a:pt x="879052" y="11598"/>
                    </a:cubicBezTo>
                    <a:lnTo>
                      <a:pt x="879052" y="867454"/>
                    </a:lnTo>
                    <a:cubicBezTo>
                      <a:pt x="879052" y="873860"/>
                      <a:pt x="873860" y="879052"/>
                      <a:pt x="867454" y="879052"/>
                    </a:cubicBezTo>
                    <a:lnTo>
                      <a:pt x="11598" y="879052"/>
                    </a:lnTo>
                    <a:cubicBezTo>
                      <a:pt x="5193" y="879052"/>
                      <a:pt x="0" y="873860"/>
                      <a:pt x="0" y="867454"/>
                    </a:cubicBezTo>
                    <a:lnTo>
                      <a:pt x="0" y="11598"/>
                    </a:lnTo>
                    <a:cubicBezTo>
                      <a:pt x="0" y="5193"/>
                      <a:pt x="5193" y="0"/>
                      <a:pt x="11598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879052" cy="9171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816911" y="3819117"/>
              <a:ext cx="2534690" cy="253469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16911" y="0"/>
              <a:ext cx="2539104" cy="2539104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2207"/>
              <a:ext cx="2536897" cy="2536897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103" y="3819117"/>
              <a:ext cx="2535794" cy="2535794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1" id="21"/>
            <p:cNvSpPr/>
            <p:nvPr/>
          </p:nvSpPr>
          <p:spPr>
            <a:xfrm flipH="false" flipV="false" rot="0">
              <a:off x="951803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4258165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4258165" y="4260372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951803" y="4375309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645920" y="3474720"/>
            <a:ext cx="128016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b="1" sz="3200">
                <a:solidFill>
                  <a:srgbClr val="3468A2"/>
                </a:solidFill>
                <a:latin typeface="Poppins"/>
              </a:defRPr>
            </a:pPr>
            <a:r>
              <a:t>O PROBLEMA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5920" y="4297680"/>
            <a:ext cx="14173200" cy="273540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1000"/>
              </a:spcAft>
              <a:defRPr sz="2200" b="1">
                <a:solidFill>
                  <a:srgbClr val="1F497D"/>
                </a:solidFill>
                <a:latin typeface="Poppins"/>
              </a:defRPr>
            </a:pPr>
            <a:r>
              <a:t>Dimensionar infraestrutura de e-mail corporativo tradicionalmente consome semanas de reuniões e trocas de planilhas.</a:t>
            </a:r>
          </a:p>
          <a:p>
            <a:pPr algn="l">
              <a:defRPr sz="1900">
                <a:solidFill>
                  <a:srgbClr val="64748B"/>
                </a:solidFill>
                <a:latin typeface="Poppins"/>
              </a:defRPr>
            </a:pPr>
            <a:r>
              <a:t>A ausência de triagem técnica padronizada gera faturas abusivas em dólar para 100% das contas, vulnerabilidade contra ataques de força bruta e desconexão entre a área comercial e a equipe de DevOps.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3468A2"/>
                </a:solidFill>
                <a:latin typeface="Poppins Bold"/>
                <a:ea typeface="Poppins Bold"/>
                <a:cs typeface="Poppins Bold"/>
                <a:sym typeface="Poppins Bold"/>
              </a:rPr>
              <a:t>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645920" y="6675120"/>
            <a:ext cx="237744" cy="1097280"/>
            <a:chOff x="0" y="0"/>
            <a:chExt cx="66593" cy="25048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202996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COTAÇÃO LENTA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Ciclos de 2 a 3 semanas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4480560" y="6675120"/>
            <a:ext cx="237744" cy="1097280"/>
            <a:chOff x="0" y="0"/>
            <a:chExt cx="66593" cy="25048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486460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CUSTO EM DÓLAR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Faturas 100% em moeda forte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7315200" y="6675120"/>
            <a:ext cx="237744" cy="1097280"/>
            <a:chOff x="0" y="0"/>
            <a:chExt cx="66593" cy="25048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769924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ATAQUES BRUTOS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Vulnerabilidade sem WAF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0149840" y="6675120"/>
            <a:ext cx="237744" cy="1097280"/>
            <a:chOff x="0" y="0"/>
            <a:chExt cx="66593" cy="25048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053388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FALHA SPF/DMARC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Bloqueios e baixa entrega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2984480" y="6675120"/>
            <a:ext cx="237744" cy="1097280"/>
            <a:chOff x="0" y="0"/>
            <a:chExt cx="66593" cy="25048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336852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RETRABALHO DEVOPS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Provisionamento manual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146005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37768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28800" y="-1554480"/>
            <a:ext cx="3194926" cy="3194926"/>
            <a:chOff x="0" y="0"/>
            <a:chExt cx="4259901" cy="4259901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266730" y="266730"/>
              <a:ext cx="3726441" cy="3726441"/>
              <a:chOff x="0" y="0"/>
              <a:chExt cx="736087" cy="73608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736087" cy="736087"/>
              </a:xfrm>
              <a:custGeom>
                <a:avLst/>
                <a:gdLst/>
                <a:ahLst/>
                <a:cxnLst/>
                <a:rect r="r" b="b" t="t" l="l"/>
                <a:pathLst>
                  <a:path h="736087" w="736087">
                    <a:moveTo>
                      <a:pt x="13850" y="0"/>
                    </a:moveTo>
                    <a:lnTo>
                      <a:pt x="722237" y="0"/>
                    </a:lnTo>
                    <a:cubicBezTo>
                      <a:pt x="729886" y="0"/>
                      <a:pt x="736087" y="6201"/>
                      <a:pt x="736087" y="13850"/>
                    </a:cubicBezTo>
                    <a:lnTo>
                      <a:pt x="736087" y="722237"/>
                    </a:lnTo>
                    <a:cubicBezTo>
                      <a:pt x="736087" y="729886"/>
                      <a:pt x="729886" y="736087"/>
                      <a:pt x="722237" y="736087"/>
                    </a:cubicBezTo>
                    <a:lnTo>
                      <a:pt x="13850" y="736087"/>
                    </a:lnTo>
                    <a:cubicBezTo>
                      <a:pt x="6201" y="736087"/>
                      <a:pt x="0" y="729886"/>
                      <a:pt x="0" y="722237"/>
                    </a:cubicBezTo>
                    <a:lnTo>
                      <a:pt x="0" y="13850"/>
                    </a:lnTo>
                    <a:cubicBezTo>
                      <a:pt x="0" y="6201"/>
                      <a:pt x="6201" y="0"/>
                      <a:pt x="13850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736087" cy="77418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-2700000">
              <a:off x="623848" y="623848"/>
              <a:ext cx="3012205" cy="3012205"/>
              <a:chOff x="0" y="0"/>
              <a:chExt cx="736087" cy="73608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736087" cy="736087"/>
              </a:xfrm>
              <a:custGeom>
                <a:avLst/>
                <a:gdLst/>
                <a:ahLst/>
                <a:cxnLst/>
                <a:rect r="r" b="b" t="t" l="l"/>
                <a:pathLst>
                  <a:path h="736087" w="736087">
                    <a:moveTo>
                      <a:pt x="17135" y="0"/>
                    </a:moveTo>
                    <a:lnTo>
                      <a:pt x="718953" y="0"/>
                    </a:lnTo>
                    <a:cubicBezTo>
                      <a:pt x="723497" y="0"/>
                      <a:pt x="727855" y="1805"/>
                      <a:pt x="731069" y="5019"/>
                    </a:cubicBezTo>
                    <a:cubicBezTo>
                      <a:pt x="734282" y="8232"/>
                      <a:pt x="736087" y="12590"/>
                      <a:pt x="736087" y="17135"/>
                    </a:cubicBezTo>
                    <a:lnTo>
                      <a:pt x="736087" y="718953"/>
                    </a:lnTo>
                    <a:cubicBezTo>
                      <a:pt x="736087" y="723497"/>
                      <a:pt x="734282" y="727855"/>
                      <a:pt x="731069" y="731069"/>
                    </a:cubicBezTo>
                    <a:cubicBezTo>
                      <a:pt x="727855" y="734282"/>
                      <a:pt x="723497" y="736087"/>
                      <a:pt x="718953" y="736087"/>
                    </a:cubicBezTo>
                    <a:lnTo>
                      <a:pt x="17135" y="736087"/>
                    </a:lnTo>
                    <a:cubicBezTo>
                      <a:pt x="12590" y="736087"/>
                      <a:pt x="8232" y="734282"/>
                      <a:pt x="5019" y="731069"/>
                    </a:cubicBezTo>
                    <a:cubicBezTo>
                      <a:pt x="1805" y="727855"/>
                      <a:pt x="0" y="723497"/>
                      <a:pt x="0" y="718953"/>
                    </a:cubicBezTo>
                    <a:lnTo>
                      <a:pt x="0" y="17135"/>
                    </a:lnTo>
                    <a:cubicBezTo>
                      <a:pt x="0" y="12590"/>
                      <a:pt x="1805" y="8232"/>
                      <a:pt x="5019" y="5019"/>
                    </a:cubicBezTo>
                    <a:cubicBezTo>
                      <a:pt x="8232" y="1805"/>
                      <a:pt x="12590" y="0"/>
                      <a:pt x="17135" y="0"/>
                    </a:cubicBezTo>
                    <a:close/>
                  </a:path>
                </a:pathLst>
              </a:custGeom>
              <a:solidFill>
                <a:srgbClr val="9AB4D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736087" cy="774187"/>
              </a:xfrm>
              <a:prstGeom prst="rect">
                <a:avLst/>
              </a:prstGeom>
            </p:spPr>
            <p:txBody>
              <a:bodyPr anchor="ctr" rtlCol="false" tIns="45146" lIns="45146" bIns="45146" rIns="4514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-2700000">
              <a:off x="1140118" y="410002"/>
              <a:ext cx="2014971" cy="2064900"/>
              <a:chOff x="0" y="0"/>
              <a:chExt cx="492395" cy="50459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92395" cy="504596"/>
              </a:xfrm>
              <a:custGeom>
                <a:avLst/>
                <a:gdLst/>
                <a:ahLst/>
                <a:cxnLst/>
                <a:rect r="r" b="b" t="t" l="l"/>
                <a:pathLst>
                  <a:path h="504596" w="492395">
                    <a:moveTo>
                      <a:pt x="25615" y="0"/>
                    </a:moveTo>
                    <a:lnTo>
                      <a:pt x="466780" y="0"/>
                    </a:lnTo>
                    <a:cubicBezTo>
                      <a:pt x="480927" y="0"/>
                      <a:pt x="492395" y="11468"/>
                      <a:pt x="492395" y="25615"/>
                    </a:cubicBezTo>
                    <a:lnTo>
                      <a:pt x="492395" y="478981"/>
                    </a:lnTo>
                    <a:cubicBezTo>
                      <a:pt x="492395" y="493128"/>
                      <a:pt x="480927" y="504596"/>
                      <a:pt x="466780" y="504596"/>
                    </a:cubicBezTo>
                    <a:lnTo>
                      <a:pt x="25615" y="504596"/>
                    </a:lnTo>
                    <a:cubicBezTo>
                      <a:pt x="11468" y="504596"/>
                      <a:pt x="0" y="493128"/>
                      <a:pt x="0" y="478981"/>
                    </a:cubicBezTo>
                    <a:lnTo>
                      <a:pt x="0" y="25615"/>
                    </a:lnTo>
                    <a:cubicBezTo>
                      <a:pt x="0" y="11468"/>
                      <a:pt x="11468" y="0"/>
                      <a:pt x="25615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492395" cy="542696"/>
              </a:xfrm>
              <a:prstGeom prst="rect">
                <a:avLst/>
              </a:prstGeom>
            </p:spPr>
            <p:txBody>
              <a:bodyPr anchor="ctr" rtlCol="false" tIns="45146" lIns="45146" bIns="45146" rIns="4514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645920" y="3200400"/>
            <a:ext cx="8412480" cy="45720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482"/>
              </a:lnSpc>
              <a:spcAft>
                <a:spcPts val="1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Desenvolvido sob medida para a infraestrutura de missão crítica da Combr Soluções em Nuvem.</a:t>
            </a:r>
          </a:p>
          <a:p>
            <a:pPr>
              <a:defRPr sz="1800">
                <a:solidFill>
                  <a:srgbClr val="64748B"/>
                </a:solidFill>
                <a:latin typeface="Poppins"/>
              </a:defRPr>
            </a:pPr>
            <a:r>
              <a:t>O Wizard diagnostica e dimensiona a infraestrutura corporativa com base em quatro pilares técnicos essenciais para estabilidade, segurança e entregabilidade: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789920" y="2468880"/>
            <a:ext cx="237744" cy="1051560"/>
            <a:chOff x="0" y="0"/>
            <a:chExt cx="66593" cy="25048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645920" y="2103120"/>
            <a:ext cx="8412480" cy="750523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INFRAESTRUTURA COMBR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47120" y="25420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ALMALINUX 9 ENTERPRISE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Estabilidade e soberania corporativa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789920" y="3840480"/>
            <a:ext cx="237744" cy="1051560"/>
            <a:chOff x="0" y="0"/>
            <a:chExt cx="66593" cy="2504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789920" y="5212080"/>
            <a:ext cx="237744" cy="1051560"/>
            <a:chOff x="0" y="0"/>
            <a:chExt cx="66593" cy="2504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789920" y="6583680"/>
            <a:ext cx="237744" cy="1051560"/>
            <a:chOff x="0" y="0"/>
            <a:chExt cx="66593" cy="25048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1247120" y="39136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AWS &amp; ORACLE CLOUD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Multi-cloud escalável e redundante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247120" y="52852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BORDA CLOUDFLARE &amp; WAF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Proteção avançada contra DDoS e spams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247120" y="66568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BANCOS MYSQL &amp; POSTGRES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Alta integridade e backups contínuos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943600" y="1280160"/>
            <a:ext cx="10515600" cy="50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0"/>
              </a:lnSpc>
              <a:defRPr sz="2000" b="1">
                <a:solidFill>
                  <a:srgbClr val="1F497D"/>
                </a:solidFill>
                <a:latin typeface="Poppins"/>
              </a:defRPr>
            </a:pPr>
            <a:r>
              <a:t>Padrão Zero Friction &amp; Curadoria Inteligente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grpSp>
        <p:nvGrpSpPr>
          <p:cNvPr name="Group 4" id="4"/>
          <p:cNvGrpSpPr/>
          <p:nvPr/>
        </p:nvGrpSpPr>
        <p:grpSpPr>
          <a:xfrm rot="5400000">
            <a:off x="-192496" y="-3348581"/>
            <a:ext cx="1532437" cy="10287000"/>
            <a:chOff x="0" y="0"/>
            <a:chExt cx="403605" cy="27093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03605" cy="2709333"/>
            </a:xfrm>
            <a:custGeom>
              <a:avLst/>
              <a:gdLst/>
              <a:ahLst/>
              <a:cxnLst/>
              <a:rect r="r" b="b" t="t" l="l"/>
              <a:pathLst>
                <a:path h="2709333" w="403605">
                  <a:moveTo>
                    <a:pt x="0" y="0"/>
                  </a:moveTo>
                  <a:lnTo>
                    <a:pt x="403605" y="0"/>
                  </a:lnTo>
                  <a:lnTo>
                    <a:pt x="40360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403605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914400" y="1188720"/>
            <a:ext cx="4389120" cy="97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07"/>
              </a:lnSpc>
              <a:spcBef>
                <a:spcPct val="0"/>
              </a:spcBef>
              <a:defRPr sz="2400" b="1">
                <a:solidFill>
                  <a:srgbClr val="FFFFFF"/>
                </a:solidFill>
                <a:latin typeface="Poppins"/>
              </a:defRPr>
            </a:pPr>
            <a:r>
              <a:t>UX/UI DESIGN</a:t>
            </a:r>
          </a:p>
        </p:txBody>
      </p:sp>
      <p:grpSp>
        <p:nvGrpSpPr>
          <p:cNvPr name="Group 8" id="8"/>
          <p:cNvGrpSpPr/>
          <p:nvPr/>
        </p:nvGrpSpPr>
        <p:grpSpPr>
          <a:xfrm rot="-2700000">
            <a:off x="16409197" y="8761311"/>
            <a:ext cx="2591208" cy="1295604"/>
            <a:chOff x="0" y="0"/>
            <a:chExt cx="660400" cy="330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4072203">
            <a:off x="-721881" y="9065460"/>
            <a:ext cx="2591208" cy="1295604"/>
            <a:chOff x="0" y="0"/>
            <a:chExt cx="660400" cy="330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4309445" y="6844745"/>
            <a:ext cx="8236893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371600" y="2560320"/>
            <a:ext cx="15361920" cy="69494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518160" indent="-259080" lvl="1">
              <a:lnSpc>
                <a:spcPts val="3359"/>
              </a:lnSpc>
              <a:spcAft>
                <a:spcPts val="2200"/>
              </a:spcAft>
              <a:defRPr sz="1400">
                <a:solidFill>
                  <a:srgbClr val="1F497D"/>
                </a:solidFill>
                <a:latin typeface="Poppins"/>
              </a:defRPr>
            </a:pPr>
            <a:r>
              <a:rPr b="1" sz="1900">
                <a:solidFill>
                  <a:srgbClr val="3468A2"/>
                </a:solidFill>
                <a:latin typeface="Poppins"/>
              </a:rPr>
              <a:t>•  1 Pergunta por Tela:  </a:t>
            </a:r>
            <a:r>
              <a:rPr b="0" sz="1800">
                <a:solidFill>
                  <a:srgbClr val="1F497D"/>
                </a:solidFill>
                <a:latin typeface="Poppins"/>
              </a:rPr>
              <a:t>Foco cognitivo total com avanço automático em 220ms após escolhas de clique único.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Navegação Ágil por Teclado:  </a:t>
            </a:r>
            <a:r>
              <a:rPr b="0" sz="1800">
                <a:solidFill>
                  <a:srgbClr val="1F497D"/>
                </a:solidFill>
                <a:latin typeface="Poppins"/>
              </a:rPr>
              <a:t>Acessibilidade total via teclas numéricas (1 a 9), Enter para avançar e Esc para voltar.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Sliders Reativos em Tempo Real:  </a:t>
            </a:r>
            <a:r>
              <a:rPr b="0" sz="1800">
                <a:solidFill>
                  <a:srgbClr val="1F497D"/>
                </a:solidFill>
                <a:latin typeface="Poppins"/>
              </a:rPr>
              <a:t>Dimensionamento dinâmico de contas e quotas por usuário com recálculo instantâneo.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Conversão Dinâmica de Unidades:  </a:t>
            </a:r>
            <a:r>
              <a:rPr b="0" sz="1800">
                <a:solidFill>
                  <a:srgbClr val="1F497D"/>
                </a:solidFill>
                <a:latin typeface="Poppins"/>
              </a:rPr>
              <a:t>Tradução transparente e imediata de Gigabytes para Terabytes com margem técnica de 20%.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Indicador de Ritmo e Progresso:  </a:t>
            </a:r>
            <a:r>
              <a:rPr b="0" sz="1800">
                <a:solidFill>
                  <a:srgbClr val="1F497D"/>
                </a:solidFill>
                <a:latin typeface="Poppins"/>
              </a:rPr>
              <a:t>Barra contínua de progresso com estimativa de tempo visível (&lt; 2 minutos).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Design Responsivo Enterprise:  </a:t>
            </a:r>
            <a:r>
              <a:rPr b="0" sz="1800">
                <a:solidFill>
                  <a:srgbClr val="1F497D"/>
                </a:solidFill>
                <a:latin typeface="Poppins"/>
              </a:rPr>
              <a:t>Experiência fluida e consistente em desktops, tablets e smartphones corporativos.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7768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57150" y="-205740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2407018" y="172822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-349618" y="2690194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407018" y="522384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-144260" y="754303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5943600" y="256032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1341446" w="1341446">
                <a:moveTo>
                  <a:pt x="0" y="0"/>
                </a:moveTo>
                <a:lnTo>
                  <a:pt x="1341446" y="0"/>
                </a:lnTo>
                <a:lnTo>
                  <a:pt x="1341446" y="1341446"/>
                </a:lnTo>
                <a:lnTo>
                  <a:pt x="0" y="13414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5943600" y="694944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818457" w="818457">
                <a:moveTo>
                  <a:pt x="0" y="0"/>
                </a:moveTo>
                <a:lnTo>
                  <a:pt x="818457" y="0"/>
                </a:lnTo>
                <a:lnTo>
                  <a:pt x="818457" y="818457"/>
                </a:lnTo>
                <a:lnTo>
                  <a:pt x="0" y="8184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5943600" y="475488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919760" w="923866">
                <a:moveTo>
                  <a:pt x="0" y="0"/>
                </a:moveTo>
                <a:lnTo>
                  <a:pt x="923866" y="0"/>
                </a:lnTo>
                <a:lnTo>
                  <a:pt x="923866" y="919759"/>
                </a:lnTo>
                <a:lnTo>
                  <a:pt x="0" y="9197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TextBox 13" id="13"/>
          <p:cNvSpPr txBox="true"/>
          <p:nvPr/>
        </p:nvSpPr>
        <p:spPr>
          <a:xfrm rot="0">
            <a:off x="5943600" y="1097280"/>
            <a:ext cx="100584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O FUNIL DE DIAGNÓSTICO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89520" y="2468880"/>
            <a:ext cx="9875520" cy="1005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Curadoria Simplificada em Menos de 2 Minutos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89520" y="315468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O decisor responde apenas perguntas estratégicas para o negócio, sem o atrito de jargões técnicos complexos.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589520" y="4663440"/>
            <a:ext cx="9875520" cy="1005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Volume &amp; Hospedagem (Steps 1 e 2)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589520" y="534924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Mapeamento da quantidade de contas, quotas individuais em GB e definição do modelo de nuvem ideal.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589520" y="6858000"/>
            <a:ext cx="9875520" cy="5098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Segurança, Backup &amp; Entrega (Steps 3 a 8)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89520" y="754380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Proteção de borda Cloudflare WAF, conformidade SPF/DKIM/DMARC, SaveMail WORM imutável e exportação imediata do JSON.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57099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7768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91159" y="-171411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341291" y="516107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398691" y="303347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341291" y="5567128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604049" y="788631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45720000" y="3200400"/>
            <a:ext cx="11430000" cy="5852160"/>
          </a:xfrm>
          <a:custGeom>
            <a:avLst/>
            <a:gdLst/>
            <a:ahLst/>
            <a:cxnLst/>
            <a:rect r="r" b="b" t="t" l="l"/>
            <a:pathLst>
              <a:path h="5074682" w="9597508">
                <a:moveTo>
                  <a:pt x="0" y="0"/>
                </a:moveTo>
                <a:lnTo>
                  <a:pt x="9597508" y="0"/>
                </a:lnTo>
                <a:lnTo>
                  <a:pt x="9597508" y="5074682"/>
                </a:lnTo>
                <a:lnTo>
                  <a:pt x="0" y="5074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14400" y="822960"/>
            <a:ext cx="91440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IMPACTO FINANCEIRO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1645920"/>
            <a:ext cx="11887200" cy="132710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502"/>
              </a:lnSpc>
              <a:defRPr sz="2000">
                <a:solidFill>
                  <a:srgbClr val="1F497D"/>
                </a:solidFill>
                <a:latin typeface="Poppins"/>
              </a:defRPr>
            </a:pPr>
            <a:r>
              <a:t>Até 70% de redução na fatura corporativa ao combinar contas executivas no M365/Google com operação na nuvem corporativa AlmaLinux.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14400" y="9418320"/>
            <a:ext cx="11430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  <a:defRPr sz="1400" b="1">
                <a:solidFill>
                  <a:srgbClr val="64748B"/>
                </a:solidFill>
                <a:latin typeface="Poppins"/>
              </a:defRPr>
            </a:pPr>
            <a:r>
              <a:t>Cenário de Estudo: 100 Contas Corporativas • Economia Real de mais de R$ 100.000 / 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8412480"/>
            <a:ext cx="11338560" cy="3657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0" y="4023360"/>
            <a:ext cx="3657600" cy="438912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  <a:latin typeface="Poppins"/>
              </a:defRPr>
            </a:pPr>
            <a:r>
              <a:t>R$ 120 / conta / mês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FEE2E2"/>
                </a:solidFill>
                <a:latin typeface="Poppins"/>
              </a:defRPr>
            </a:pPr>
            <a:r>
              <a:t>Fatura 100% em Dólar (US$)</a:t>
            </a:r>
          </a:p>
          <a:p>
            <a:pPr algn="ctr">
              <a:defRPr sz="1300">
                <a:solidFill>
                  <a:srgbClr val="FECACA"/>
                </a:solidFill>
                <a:latin typeface="Poppins"/>
              </a:defRPr>
            </a:pPr>
            <a:r>
              <a:t>M365 Business / Google Workspace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461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C2626"/>
                </a:solidFill>
                <a:latin typeface="Poppins"/>
              </a:defRPr>
            </a:pPr>
            <a:r>
              <a:t>R$ 144.000 /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8549640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97D"/>
                </a:solidFill>
                <a:latin typeface="Poppins"/>
              </a:defRPr>
            </a:pPr>
            <a:r>
              <a:t>100% SaaS Estrangeiro</a:t>
            </a:r>
          </a:p>
          <a:p>
            <a:pPr algn="ctr">
              <a:defRPr sz="1300">
                <a:solidFill>
                  <a:srgbClr val="64748B"/>
                </a:solidFill>
                <a:latin typeface="Poppins"/>
              </a:defRPr>
            </a:pPr>
            <a:r>
              <a:t>Custo dolarizado sem otimização operacional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4937760"/>
            <a:ext cx="2011680" cy="1828800"/>
          </a:xfrm>
          <a:prstGeom prst="roundRect">
            <a:avLst/>
          </a:prstGeom>
          <a:solidFill>
            <a:srgbClr val="3468A2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Poppins"/>
              </a:defRPr>
            </a:pPr>
            <a:r>
              <a:t>-70%</a:t>
            </a:r>
          </a:p>
          <a:p>
            <a:pPr algn="ctr">
              <a:defRPr sz="1300" b="1">
                <a:solidFill>
                  <a:srgbClr val="BAE6FD"/>
                </a:solidFill>
                <a:latin typeface="Poppins"/>
              </a:defRPr>
            </a:pPr>
            <a:r>
              <a:t>ECONOMIA</a:t>
            </a:r>
          </a:p>
          <a:p>
            <a:pPr algn="ctr">
              <a:defRPr sz="1100" b="1">
                <a:solidFill>
                  <a:srgbClr val="E0F2FE"/>
                </a:solidFill>
                <a:latin typeface="Poppins"/>
              </a:defRPr>
            </a:pPr>
            <a:r>
              <a:t>ANUAL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7095744"/>
            <a:ext cx="3657600" cy="131673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700" b="1">
                <a:solidFill>
                  <a:srgbClr val="FFFFFF"/>
                </a:solidFill>
                <a:latin typeface="Poppins"/>
              </a:defRPr>
            </a:pPr>
            <a:r>
              <a:t>R$ 36 / conta / mês</a:t>
            </a:r>
          </a:p>
          <a:p>
            <a:pPr algn="ctr">
              <a:defRPr sz="1300">
                <a:solidFill>
                  <a:srgbClr val="D1FAE5"/>
                </a:solidFill>
                <a:latin typeface="Poppins"/>
              </a:defRPr>
            </a:pPr>
            <a:r>
              <a:t>100% em Moeda Local (BRL)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626364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59669"/>
                </a:solidFill>
                <a:latin typeface="Poppins"/>
              </a:defRPr>
            </a:pPr>
            <a:r>
              <a:t>R$ 43.200 / 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8549640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97D"/>
                </a:solidFill>
                <a:latin typeface="Poppins"/>
              </a:defRPr>
            </a:pPr>
            <a:r>
              <a:t>Nuvem Híbrida Inteligente</a:t>
            </a:r>
          </a:p>
          <a:p>
            <a:pPr algn="ctr">
              <a:defRPr sz="1300">
                <a:solidFill>
                  <a:srgbClr val="64748B"/>
                </a:solidFill>
                <a:latin typeface="Poppins"/>
              </a:defRPr>
            </a:pPr>
            <a:r>
              <a:t>AlmaLinux Corporativo + M365 Executivo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2606040"/>
            <a:ext cx="731520" cy="731520"/>
            <a:chOff x="0" y="0"/>
            <a:chExt cx="249657" cy="2496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01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5720000" y="3672152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11680" y="256032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Nuvem Híbrida Inteligente (Modelo Recomendado)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Combina Microsoft 365 / Google para diretoria com AlmaLinux corporativo para operação, gerando até 70% de economia.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4</a:t>
            </a:r>
          </a:p>
        </p:txBody>
      </p:sp>
      <p:grpSp>
        <p:nvGrpSpPr>
          <p:cNvPr name="Group 8" id="8"/>
          <p:cNvGrpSpPr/>
          <p:nvPr/>
        </p:nvGrpSpPr>
        <p:grpSpPr>
          <a:xfrm rot="5400000">
            <a:off x="-356361" y="-3348581"/>
            <a:ext cx="1532437" cy="10287000"/>
            <a:chOff x="0" y="0"/>
            <a:chExt cx="403605" cy="27093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03605" cy="2709333"/>
            </a:xfrm>
            <a:custGeom>
              <a:avLst/>
              <a:gdLst/>
              <a:ahLst/>
              <a:cxnLst/>
              <a:rect r="r" b="b" t="t" l="l"/>
              <a:pathLst>
                <a:path h="2709333" w="403605">
                  <a:moveTo>
                    <a:pt x="0" y="0"/>
                  </a:moveTo>
                  <a:lnTo>
                    <a:pt x="403605" y="0"/>
                  </a:lnTo>
                  <a:lnTo>
                    <a:pt x="40360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403605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14400" y="1188720"/>
            <a:ext cx="4389120" cy="97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07"/>
              </a:lnSpc>
              <a:spcBef>
                <a:spcPct val="0"/>
              </a:spcBef>
              <a:defRPr sz="2400" b="1">
                <a:solidFill>
                  <a:srgbClr val="FFFFFF"/>
                </a:solidFill>
                <a:latin typeface="Poppins"/>
              </a:defRPr>
            </a:pPr>
            <a:r>
              <a:t>ARQUITETURAS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943600" y="1280160"/>
            <a:ext cx="10515600" cy="50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0"/>
              </a:lnSpc>
              <a:defRPr sz="2000" b="1">
                <a:solidFill>
                  <a:srgbClr val="1F497D"/>
                </a:solidFill>
                <a:latin typeface="Poppins"/>
              </a:defRPr>
            </a:pPr>
            <a:r>
              <a:t>5 Modelos de Infraestrutura Especializada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011680" y="3749039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Cloud Privada Corporativa (Soberania Total)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Servidores dedicados com Zimbra Collaboration e cPanel em AlmaLinux 9, garantindo controle irrestrito de dados e conformidade LGPD.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011680" y="493776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SaaS Corporativo Gerenciado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Gestão e faturamento consolidado em moeda local (BRL) para Microsoft 365 e Google Workspace com suporte técnico N2/N3 da Combr.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05840" y="3794759"/>
            <a:ext cx="731520" cy="731520"/>
            <a:chOff x="0" y="0"/>
            <a:chExt cx="249657" cy="24965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02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45720000" y="4756054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005840" y="4983480"/>
            <a:ext cx="731520" cy="731520"/>
            <a:chOff x="0" y="0"/>
            <a:chExt cx="249657" cy="24965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03</a:t>
              </a: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45720000" y="5837322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005840" y="6172200"/>
            <a:ext cx="731520" cy="731520"/>
            <a:chOff x="0" y="0"/>
            <a:chExt cx="249657" cy="24965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04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45720000" y="6918591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2011680" y="612648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Cluster VPS Dedicado de Alta Performance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Instâncias escaláveis na AWS e Oracle Cloud Infrastructure com IPs dedicados aquecidos e alta entregabilidade transacional.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05840" y="7360920"/>
            <a:ext cx="731520" cy="731520"/>
            <a:chOff x="0" y="0"/>
            <a:chExt cx="249657" cy="24965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05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45720000" y="7999859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011680" y="731520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Storage NVMe &amp; Backup SaveMail Pro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Armazenamento ultrarrápido NVMe com retenção imutável WORM de até 5 anos contra ransomware e exclusões acidentais.</a:t>
            </a:r>
          </a:p>
        </p:txBody>
      </p:sp>
      <p:grpSp>
        <p:nvGrpSpPr>
          <p:cNvPr name="Group 33" id="33"/>
          <p:cNvGrpSpPr/>
          <p:nvPr/>
        </p:nvGrpSpPr>
        <p:grpSpPr>
          <a:xfrm rot="4072203">
            <a:off x="-885747" y="9348737"/>
            <a:ext cx="2591208" cy="1295604"/>
            <a:chOff x="0" y="0"/>
            <a:chExt cx="660400" cy="3302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-8666402">
            <a:off x="16681687" y="-78295"/>
            <a:ext cx="2591208" cy="1295604"/>
            <a:chOff x="0" y="0"/>
            <a:chExt cx="660400" cy="3302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2377440"/>
            <a:ext cx="219456" cy="5669280"/>
            <a:chOff x="0" y="0"/>
            <a:chExt cx="58288" cy="13676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288" cy="1367624"/>
            </a:xfrm>
            <a:custGeom>
              <a:avLst/>
              <a:gdLst/>
              <a:ahLst/>
              <a:cxnLst/>
              <a:rect r="r" b="b" t="t" l="l"/>
              <a:pathLst>
                <a:path h="1367624" w="58288">
                  <a:moveTo>
                    <a:pt x="29144" y="0"/>
                  </a:moveTo>
                  <a:lnTo>
                    <a:pt x="29144" y="0"/>
                  </a:lnTo>
                  <a:cubicBezTo>
                    <a:pt x="45240" y="0"/>
                    <a:pt x="58288" y="13048"/>
                    <a:pt x="58288" y="29144"/>
                  </a:cubicBezTo>
                  <a:lnTo>
                    <a:pt x="58288" y="1338480"/>
                  </a:lnTo>
                  <a:cubicBezTo>
                    <a:pt x="58288" y="1346209"/>
                    <a:pt x="55218" y="1353622"/>
                    <a:pt x="49752" y="1359088"/>
                  </a:cubicBezTo>
                  <a:cubicBezTo>
                    <a:pt x="44286" y="1364553"/>
                    <a:pt x="36874" y="1367624"/>
                    <a:pt x="29144" y="1367624"/>
                  </a:cubicBezTo>
                  <a:lnTo>
                    <a:pt x="29144" y="1367624"/>
                  </a:lnTo>
                  <a:cubicBezTo>
                    <a:pt x="13048" y="1367624"/>
                    <a:pt x="0" y="1354575"/>
                    <a:pt x="0" y="1338480"/>
                  </a:cubicBezTo>
                  <a:lnTo>
                    <a:pt x="0" y="29144"/>
                  </a:lnTo>
                  <a:cubicBezTo>
                    <a:pt x="0" y="21415"/>
                    <a:pt x="3071" y="14002"/>
                    <a:pt x="8536" y="8536"/>
                  </a:cubicBezTo>
                  <a:cubicBezTo>
                    <a:pt x="14002" y="3071"/>
                    <a:pt x="21415" y="0"/>
                    <a:pt x="29144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58288" cy="14247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326880" y="2377440"/>
            <a:ext cx="219456" cy="5669280"/>
            <a:chOff x="0" y="0"/>
            <a:chExt cx="60215" cy="13666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0215" cy="1366625"/>
            </a:xfrm>
            <a:custGeom>
              <a:avLst/>
              <a:gdLst/>
              <a:ahLst/>
              <a:cxnLst/>
              <a:rect r="r" b="b" t="t" l="l"/>
              <a:pathLst>
                <a:path h="1366625" w="60215">
                  <a:moveTo>
                    <a:pt x="30107" y="0"/>
                  </a:moveTo>
                  <a:lnTo>
                    <a:pt x="30107" y="0"/>
                  </a:lnTo>
                  <a:cubicBezTo>
                    <a:pt x="38092" y="0"/>
                    <a:pt x="45750" y="3172"/>
                    <a:pt x="51397" y="8818"/>
                  </a:cubicBezTo>
                  <a:cubicBezTo>
                    <a:pt x="57043" y="14465"/>
                    <a:pt x="60215" y="22122"/>
                    <a:pt x="60215" y="30107"/>
                  </a:cubicBezTo>
                  <a:lnTo>
                    <a:pt x="60215" y="1336517"/>
                  </a:lnTo>
                  <a:cubicBezTo>
                    <a:pt x="60215" y="1353145"/>
                    <a:pt x="46735" y="1366625"/>
                    <a:pt x="30107" y="1366625"/>
                  </a:cubicBezTo>
                  <a:lnTo>
                    <a:pt x="30107" y="1366625"/>
                  </a:lnTo>
                  <a:cubicBezTo>
                    <a:pt x="13480" y="1366625"/>
                    <a:pt x="0" y="1353145"/>
                    <a:pt x="0" y="1336517"/>
                  </a:cubicBezTo>
                  <a:lnTo>
                    <a:pt x="0" y="30107"/>
                  </a:lnTo>
                  <a:cubicBezTo>
                    <a:pt x="0" y="13480"/>
                    <a:pt x="13480" y="0"/>
                    <a:pt x="30107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60215" cy="14237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2700000">
            <a:off x="12492289" y="7796872"/>
            <a:ext cx="4767011" cy="4766183"/>
            <a:chOff x="0" y="0"/>
            <a:chExt cx="6356014" cy="6354911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951803" y="954010"/>
              <a:ext cx="4450201" cy="4450201"/>
              <a:chOff x="0" y="0"/>
              <a:chExt cx="879052" cy="879052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79052" cy="879052"/>
              </a:xfrm>
              <a:custGeom>
                <a:avLst/>
                <a:gdLst/>
                <a:ahLst/>
                <a:cxnLst/>
                <a:rect r="r" b="b" t="t" l="l"/>
                <a:pathLst>
                  <a:path h="879052" w="879052">
                    <a:moveTo>
                      <a:pt x="11598" y="0"/>
                    </a:moveTo>
                    <a:lnTo>
                      <a:pt x="867454" y="0"/>
                    </a:lnTo>
                    <a:cubicBezTo>
                      <a:pt x="873860" y="0"/>
                      <a:pt x="879052" y="5193"/>
                      <a:pt x="879052" y="11598"/>
                    </a:cubicBezTo>
                    <a:lnTo>
                      <a:pt x="879052" y="867454"/>
                    </a:lnTo>
                    <a:cubicBezTo>
                      <a:pt x="879052" y="873860"/>
                      <a:pt x="873860" y="879052"/>
                      <a:pt x="867454" y="879052"/>
                    </a:cubicBezTo>
                    <a:lnTo>
                      <a:pt x="11598" y="879052"/>
                    </a:lnTo>
                    <a:cubicBezTo>
                      <a:pt x="5193" y="879052"/>
                      <a:pt x="0" y="873860"/>
                      <a:pt x="0" y="867454"/>
                    </a:cubicBezTo>
                    <a:lnTo>
                      <a:pt x="0" y="11598"/>
                    </a:lnTo>
                    <a:cubicBezTo>
                      <a:pt x="0" y="5193"/>
                      <a:pt x="5193" y="0"/>
                      <a:pt x="11598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879052" cy="9171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16911" y="3819117"/>
              <a:ext cx="2534690" cy="253469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3816911" y="0"/>
              <a:ext cx="2539104" cy="2539104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0" y="2207"/>
              <a:ext cx="2536897" cy="2536897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1103" y="3819117"/>
              <a:ext cx="2535794" cy="2535794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4" id="24"/>
            <p:cNvSpPr/>
            <p:nvPr/>
          </p:nvSpPr>
          <p:spPr>
            <a:xfrm flipH="false" flipV="false" rot="0">
              <a:off x="951803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4258165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4258165" y="4260372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951803" y="4375309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468880" y="246888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34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Dimensionamento de Storage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TotalStorage = Contas × Cota (GB) com conversão dinâmica para Terabytes e margem técnica de segurança de 20%.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468880" y="512064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Security Score (0 a 100)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Algoritmo aditivo: Base 40 pts + SPF/DKIM/DMARC (+20) + Cloudflare WAF (+20) + TLS 1.3/2FA (+15) + Auditoria LGPD (+5).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881360" y="246888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Matriz de SLA &amp; Resiliência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RPO ≤ 1h e RTO ≤ 2h • Backup WORM SaveMail Pro (5 anos) • Disaster Recovery Multi-Região com failover em 15 min.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71600" y="256032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04420" w="804420">
                <a:moveTo>
                  <a:pt x="0" y="0"/>
                </a:moveTo>
                <a:lnTo>
                  <a:pt x="804421" y="0"/>
                </a:lnTo>
                <a:lnTo>
                  <a:pt x="804421" y="804421"/>
                </a:lnTo>
                <a:lnTo>
                  <a:pt x="0" y="8044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1371600" y="521208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1112003" w="1112003">
                <a:moveTo>
                  <a:pt x="0" y="0"/>
                </a:moveTo>
                <a:lnTo>
                  <a:pt x="1112003" y="0"/>
                </a:lnTo>
                <a:lnTo>
                  <a:pt x="1112003" y="1112003"/>
                </a:lnTo>
                <a:lnTo>
                  <a:pt x="0" y="11120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9784080" y="256032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49580" w="849580">
                <a:moveTo>
                  <a:pt x="0" y="0"/>
                </a:moveTo>
                <a:lnTo>
                  <a:pt x="849580" y="0"/>
                </a:lnTo>
                <a:lnTo>
                  <a:pt x="849580" y="849580"/>
                </a:lnTo>
                <a:lnTo>
                  <a:pt x="0" y="8495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10881360" y="512064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Automação DevOps &amp; IaC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Payload JSON v2.0 com especificações técnicas prontas para Ansible Playbooks (AlmaLinux) e Terraform (AWS/OCI).</a:t>
            </a:r>
          </a:p>
        </p:txBody>
      </p:sp>
      <p:sp>
        <p:nvSpPr>
          <p:cNvPr name="Freeform 61" id="61"/>
          <p:cNvSpPr/>
          <p:nvPr/>
        </p:nvSpPr>
        <p:spPr>
          <a:xfrm flipH="false" flipV="false" rot="0">
            <a:off x="9784080" y="521208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92889" w="892889">
                <a:moveTo>
                  <a:pt x="0" y="0"/>
                </a:moveTo>
                <a:lnTo>
                  <a:pt x="892889" y="0"/>
                </a:lnTo>
                <a:lnTo>
                  <a:pt x="892889" y="892889"/>
                </a:lnTo>
                <a:lnTo>
                  <a:pt x="0" y="8928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62" id="62"/>
          <p:cNvSpPr txBox="true"/>
          <p:nvPr/>
        </p:nvSpPr>
        <p:spPr>
          <a:xfrm rot="0">
            <a:off x="1005840" y="914400"/>
            <a:ext cx="109728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REGRAS DE CÁLCULO &amp; AUTOMAÇÃO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DAHQ0ALt0Dw</dc:identifier>
  <dcterms:modified xsi:type="dcterms:W3CDTF">2011-08-01T06:04:30Z</dcterms:modified>
  <cp:revision>1</cp:revision>
  <dc:title>PADRAO</dc:title>
</cp:coreProperties>
</file>