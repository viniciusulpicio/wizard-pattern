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ns2="http://schemas.openxmlformats.org/drawingml/2006/main" xmlns:p="http://schemas.openxmlformats.org/presentationml/2006/main" xmlns:r="http://schemas.openxmlformats.org/officeDocument/2006/relationships" saveSubsetFonts="1" embedTrueTypeFonts="true">
  <p:sldMasterIdLst>
    <p:sldMasterId id="2147483648" r:id="rId1"/>
  </p:sldMasterIdLst>
  <p:sldIdLst>
    <p:sldId id="256" r:id="rId6"/>
    <p:sldId id="257" r:id="rId7"/>
    <p:sldId id="260" r:id="rId10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Open Sans" charset="1" panose="020B0606030504020204"/>
      <p:regular r:id="rId18"/>
    </p:embeddedFont>
    <p:embeddedFont>
      <p:font typeface="Poppins Bold Italics" charset="1" panose="00000800000000000000"/>
      <p:regular r:id="rId19"/>
    </p:embeddedFont>
    <p:embeddedFont>
      <p:font typeface="Poppins Italics" charset="1" panose="00000500000000000000"/>
      <p:regular r:id="rId20"/>
    </p:embeddedFont>
  </p:embeddedFontLst>
  <p:defaultTextStyle>
    <ns2:defPPr>
      <ns2:defRPr lang="en-US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image" Target="../media/logo_full.png"/>
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230901" cy="10287000"/>
            <a:chOff x="0" y="0"/>
            <a:chExt cx="137768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76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77686">
                  <a:moveTo>
                    <a:pt x="0" y="0"/>
                  </a:moveTo>
                  <a:lnTo>
                    <a:pt x="1377686" y="0"/>
                  </a:lnTo>
                  <a:lnTo>
                    <a:pt x="137768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7768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319003" y="-2316974"/>
            <a:ext cx="4066506" cy="406650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086511" y="2987782"/>
            <a:ext cx="4311437" cy="431143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319003" y="8537468"/>
            <a:ext cx="4066506" cy="406650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212313" y="4495698"/>
            <a:ext cx="2591208" cy="1295604"/>
            <a:chOff x="0" y="0"/>
            <a:chExt cx="660400" cy="330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295604" y="6003615"/>
            <a:ext cx="2591208" cy="1295604"/>
            <a:chOff x="0" y="0"/>
            <a:chExt cx="660400" cy="33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0800000">
            <a:off x="-1295604" y="2987782"/>
            <a:ext cx="2591208" cy="1295604"/>
            <a:chOff x="0" y="0"/>
            <a:chExt cx="660400" cy="330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 xmlns:p="http://schemas.openxmlformats.org/presentationml/2006/main" xmlns:a="http://schemas.openxmlformats.org/drawingml/2006/main" xmlns:r="http://schemas.openxmlformats.org/officeDocument/2006/relationships">
        <p:nvPicPr>
          <p:cNvPr id="102" name="Full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360" y="1400000"/>
            <a:ext cx="5669280" cy="3394778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name="TextBox 25" id="25"/>
          <p:cNvSpPr txBox="true"/>
          <p:nvPr/>
        </p:nvSpPr>
        <p:spPr>
          <a:xfrm rot="0">
            <a:off x="5486400" y="5300000"/>
            <a:ext cx="12435840" cy="29260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4480"/>
              </a:lnSpc>
              <a:spcAft>
                <a:spcPts val="2800"/>
              </a:spcAft>
              <a:defRPr sz="2200" b="0">
                <a:solidFill>
                  <a:srgbClr val="64748B"/>
                </a:solidFill>
                <a:latin typeface="Poppins"/>
              </a:defRPr>
            </a:pPr>
            <a:r>
              <a:t>Diagnóstico e Dimensionamento de Infraestrutura Corporativa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1F497D"/>
                </a:solidFill>
                <a:latin typeface="Poppins"/>
              </a:defRPr>
            </a:pPr>
            <a:r>
              <a:t>Victor Hugo  •  Pedro Lucas  •  Enzo Katsumoto  •  Luiz Seisdedo</a:t>
            </a:r>
          </a:p>
          <a:p>
            <a:pPr algn="ctr">
              <a:defRPr sz="1600" b="1">
                <a:solidFill>
                  <a:srgbClr val="1F497D"/>
                </a:solidFill>
                <a:latin typeface="Poppins"/>
              </a:defRPr>
            </a:pPr>
            <a:r>
              <a:t>Danilo Dezani  •  Vinicius Sulpicio  •  Bruno Viera  •  Gabriel Dias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27240" y="5520817"/>
            <a:ext cx="4767011" cy="4766183"/>
            <a:chOff x="0" y="0"/>
            <a:chExt cx="6356014" cy="635491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951803" y="954010"/>
              <a:ext cx="4450201" cy="4450201"/>
              <a:chOff x="0" y="0"/>
              <a:chExt cx="879052" cy="87905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79052" cy="879052"/>
              </a:xfrm>
              <a:custGeom>
                <a:avLst/>
                <a:gdLst/>
                <a:ahLst/>
                <a:cxnLst/>
                <a:rect r="r" b="b" t="t" l="l"/>
                <a:pathLst>
                  <a:path h="879052" w="879052">
                    <a:moveTo>
                      <a:pt x="11598" y="0"/>
                    </a:moveTo>
                    <a:lnTo>
                      <a:pt x="867454" y="0"/>
                    </a:lnTo>
                    <a:cubicBezTo>
                      <a:pt x="873860" y="0"/>
                      <a:pt x="879052" y="5193"/>
                      <a:pt x="879052" y="11598"/>
                    </a:cubicBezTo>
                    <a:lnTo>
                      <a:pt x="879052" y="867454"/>
                    </a:lnTo>
                    <a:cubicBezTo>
                      <a:pt x="879052" y="873860"/>
                      <a:pt x="873860" y="879052"/>
                      <a:pt x="867454" y="879052"/>
                    </a:cubicBezTo>
                    <a:lnTo>
                      <a:pt x="11598" y="879052"/>
                    </a:lnTo>
                    <a:cubicBezTo>
                      <a:pt x="5193" y="879052"/>
                      <a:pt x="0" y="873860"/>
                      <a:pt x="0" y="867454"/>
                    </a:cubicBezTo>
                    <a:lnTo>
                      <a:pt x="0" y="11598"/>
                    </a:lnTo>
                    <a:cubicBezTo>
                      <a:pt x="0" y="5193"/>
                      <a:pt x="5193" y="0"/>
                      <a:pt x="11598" y="0"/>
                    </a:cubicBezTo>
                    <a:close/>
                  </a:path>
                </a:pathLst>
              </a:custGeom>
              <a:solidFill>
                <a:srgbClr val="3468A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879052" cy="9171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816911" y="3819117"/>
              <a:ext cx="2534690" cy="253469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816911" y="0"/>
              <a:ext cx="2539104" cy="253910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2207"/>
              <a:ext cx="2536897" cy="2536897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103" y="3819117"/>
              <a:ext cx="2535794" cy="2535794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951803" y="954010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4258165" y="954010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4258165" y="4260372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951803" y="4375309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645920" y="3474720"/>
            <a:ext cx="12801600" cy="75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2"/>
              </a:lnSpc>
              <a:defRPr b="1" sz="3200">
                <a:solidFill>
                  <a:srgbClr val="3468A2"/>
                </a:solidFill>
                <a:latin typeface="Poppins"/>
              </a:defRPr>
            </a:pPr>
            <a:r>
              <a:t>O PROBLEMA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45920" y="4297680"/>
            <a:ext cx="14173200" cy="2735408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1000"/>
              </a:spcAft>
              <a:defRPr sz="2200" b="1">
                <a:solidFill>
                  <a:srgbClr val="1F497D"/>
                </a:solidFill>
                <a:latin typeface="Poppins"/>
              </a:defRPr>
            </a:pPr>
            <a:r>
              <a:t>Dimensionar infraestrutura de e-mail corporativo tradicionalmente consome semanas de reuniões e trocas de planilhas.</a:t>
            </a:r>
          </a:p>
          <a:p>
            <a:pPr algn="l">
              <a:defRPr sz="1900">
                <a:solidFill>
                  <a:srgbClr val="64748B"/>
                </a:solidFill>
                <a:latin typeface="Poppins"/>
              </a:defRPr>
            </a:pPr>
            <a:r>
              <a:t>A ausência de triagem técnica padronizada gera faturas abusivas em dólar para 100% das contas, vulnerabilidade contra ataques de força bruta e desconexão entre a área comercial e a equipe de DevOps.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3468A2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45920" y="6675120"/>
            <a:ext cx="237744" cy="1097280"/>
            <a:chOff x="0" y="0"/>
            <a:chExt cx="66593" cy="2504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029968" y="6720840"/>
            <a:ext cx="233172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1500" b="1">
                <a:solidFill>
                  <a:srgbClr val="1F497D"/>
                </a:solidFill>
                <a:latin typeface="Poppins"/>
              </a:defRPr>
            </a:pPr>
            <a:r>
              <a:t>COTAÇÃO LENTA</a:t>
            </a:r>
          </a:p>
          <a:p>
            <a:pPr>
              <a:defRPr sz="1200">
                <a:solidFill>
                  <a:srgbClr val="64748B"/>
                </a:solidFill>
                <a:latin typeface="Poppins"/>
              </a:defRPr>
            </a:pPr>
            <a:r>
              <a:t>Ciclos de 2 a 3 semanas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4480560" y="6675120"/>
            <a:ext cx="237744" cy="1097280"/>
            <a:chOff x="0" y="0"/>
            <a:chExt cx="66593" cy="25048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864608" y="6720840"/>
            <a:ext cx="233172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1500" b="1">
                <a:solidFill>
                  <a:srgbClr val="1F497D"/>
                </a:solidFill>
                <a:latin typeface="Poppins"/>
              </a:defRPr>
            </a:pPr>
            <a:r>
              <a:t>CUSTO EM DÓLAR</a:t>
            </a:r>
          </a:p>
          <a:p>
            <a:pPr>
              <a:defRPr sz="1200">
                <a:solidFill>
                  <a:srgbClr val="64748B"/>
                </a:solidFill>
                <a:latin typeface="Poppins"/>
              </a:defRPr>
            </a:pPr>
            <a:r>
              <a:t>Faturas 100% em moeda forte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315200" y="6675120"/>
            <a:ext cx="237744" cy="1097280"/>
            <a:chOff x="0" y="0"/>
            <a:chExt cx="66593" cy="25048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7699248" y="6720840"/>
            <a:ext cx="233172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1500" b="1">
                <a:solidFill>
                  <a:srgbClr val="1F497D"/>
                </a:solidFill>
                <a:latin typeface="Poppins"/>
              </a:defRPr>
            </a:pPr>
            <a:r>
              <a:t>ATAQUES BRUTOS</a:t>
            </a:r>
          </a:p>
          <a:p>
            <a:pPr>
              <a:defRPr sz="1200">
                <a:solidFill>
                  <a:srgbClr val="64748B"/>
                </a:solidFill>
                <a:latin typeface="Poppins"/>
              </a:defRPr>
            </a:pPr>
            <a:r>
              <a:t>Vulnerabilidade sem WAF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149840" y="6675120"/>
            <a:ext cx="237744" cy="1097280"/>
            <a:chOff x="0" y="0"/>
            <a:chExt cx="66593" cy="25048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533888" y="6720840"/>
            <a:ext cx="233172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1500" b="1">
                <a:solidFill>
                  <a:srgbClr val="1F497D"/>
                </a:solidFill>
                <a:latin typeface="Poppins"/>
              </a:defRPr>
            </a:pPr>
            <a:r>
              <a:t>FALHA SPF/DMARC</a:t>
            </a:r>
          </a:p>
          <a:p>
            <a:pPr>
              <a:defRPr sz="1200">
                <a:solidFill>
                  <a:srgbClr val="64748B"/>
                </a:solidFill>
                <a:latin typeface="Poppins"/>
              </a:defRPr>
            </a:pPr>
            <a:r>
              <a:t>Bloqueios e baixa entrega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984480" y="6675120"/>
            <a:ext cx="237744" cy="1097280"/>
            <a:chOff x="0" y="0"/>
            <a:chExt cx="66593" cy="25048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3368528" y="6720840"/>
            <a:ext cx="233172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1500" b="1">
                <a:solidFill>
                  <a:srgbClr val="1F497D"/>
                </a:solidFill>
                <a:latin typeface="Poppins"/>
              </a:defRPr>
            </a:pPr>
            <a:r>
              <a:t>RETRABALHO DEVOPS</a:t>
            </a:r>
          </a:p>
          <a:p>
            <a:pPr>
              <a:defRPr sz="1200">
                <a:solidFill>
                  <a:srgbClr val="64748B"/>
                </a:solidFill>
                <a:latin typeface="Poppins"/>
              </a:defRPr>
            </a:pPr>
            <a:r>
              <a:t>Provisionamento manual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46005" y="0"/>
            <a:ext cx="5230901" cy="10287000"/>
            <a:chOff x="0" y="0"/>
            <a:chExt cx="137768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76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77686">
                  <a:moveTo>
                    <a:pt x="0" y="0"/>
                  </a:moveTo>
                  <a:lnTo>
                    <a:pt x="1377686" y="0"/>
                  </a:lnTo>
                  <a:lnTo>
                    <a:pt x="137768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7768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28800" y="-1554480"/>
            <a:ext cx="3194926" cy="3194926"/>
            <a:chOff x="0" y="0"/>
            <a:chExt cx="4259901" cy="425990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266730" y="266730"/>
              <a:ext cx="3726441" cy="3726441"/>
              <a:chOff x="0" y="0"/>
              <a:chExt cx="736087" cy="73608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36087" cy="736087"/>
              </a:xfrm>
              <a:custGeom>
                <a:avLst/>
                <a:gdLst/>
                <a:ahLst/>
                <a:cxnLst/>
                <a:rect r="r" b="b" t="t" l="l"/>
                <a:pathLst>
                  <a:path h="736087" w="736087">
                    <a:moveTo>
                      <a:pt x="13850" y="0"/>
                    </a:moveTo>
                    <a:lnTo>
                      <a:pt x="722237" y="0"/>
                    </a:lnTo>
                    <a:cubicBezTo>
                      <a:pt x="729886" y="0"/>
                      <a:pt x="736087" y="6201"/>
                      <a:pt x="736087" y="13850"/>
                    </a:cubicBezTo>
                    <a:lnTo>
                      <a:pt x="736087" y="722237"/>
                    </a:lnTo>
                    <a:cubicBezTo>
                      <a:pt x="736087" y="729886"/>
                      <a:pt x="729886" y="736087"/>
                      <a:pt x="722237" y="736087"/>
                    </a:cubicBezTo>
                    <a:lnTo>
                      <a:pt x="13850" y="736087"/>
                    </a:lnTo>
                    <a:cubicBezTo>
                      <a:pt x="6201" y="736087"/>
                      <a:pt x="0" y="729886"/>
                      <a:pt x="0" y="722237"/>
                    </a:cubicBezTo>
                    <a:lnTo>
                      <a:pt x="0" y="13850"/>
                    </a:lnTo>
                    <a:cubicBezTo>
                      <a:pt x="0" y="6201"/>
                      <a:pt x="6201" y="0"/>
                      <a:pt x="13850" y="0"/>
                    </a:cubicBezTo>
                    <a:close/>
                  </a:path>
                </a:pathLst>
              </a:custGeom>
              <a:solidFill>
                <a:srgbClr val="3468A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736087" cy="774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2700000">
              <a:off x="623848" y="623848"/>
              <a:ext cx="3012205" cy="3012205"/>
              <a:chOff x="0" y="0"/>
              <a:chExt cx="736087" cy="73608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36087" cy="736087"/>
              </a:xfrm>
              <a:custGeom>
                <a:avLst/>
                <a:gdLst/>
                <a:ahLst/>
                <a:cxnLst/>
                <a:rect r="r" b="b" t="t" l="l"/>
                <a:pathLst>
                  <a:path h="736087" w="736087">
                    <a:moveTo>
                      <a:pt x="17135" y="0"/>
                    </a:moveTo>
                    <a:lnTo>
                      <a:pt x="718953" y="0"/>
                    </a:lnTo>
                    <a:cubicBezTo>
                      <a:pt x="723497" y="0"/>
                      <a:pt x="727855" y="1805"/>
                      <a:pt x="731069" y="5019"/>
                    </a:cubicBezTo>
                    <a:cubicBezTo>
                      <a:pt x="734282" y="8232"/>
                      <a:pt x="736087" y="12590"/>
                      <a:pt x="736087" y="17135"/>
                    </a:cubicBezTo>
                    <a:lnTo>
                      <a:pt x="736087" y="718953"/>
                    </a:lnTo>
                    <a:cubicBezTo>
                      <a:pt x="736087" y="723497"/>
                      <a:pt x="734282" y="727855"/>
                      <a:pt x="731069" y="731069"/>
                    </a:cubicBezTo>
                    <a:cubicBezTo>
                      <a:pt x="727855" y="734282"/>
                      <a:pt x="723497" y="736087"/>
                      <a:pt x="718953" y="736087"/>
                    </a:cubicBezTo>
                    <a:lnTo>
                      <a:pt x="17135" y="736087"/>
                    </a:lnTo>
                    <a:cubicBezTo>
                      <a:pt x="12590" y="736087"/>
                      <a:pt x="8232" y="734282"/>
                      <a:pt x="5019" y="731069"/>
                    </a:cubicBezTo>
                    <a:cubicBezTo>
                      <a:pt x="1805" y="727855"/>
                      <a:pt x="0" y="723497"/>
                      <a:pt x="0" y="718953"/>
                    </a:cubicBezTo>
                    <a:lnTo>
                      <a:pt x="0" y="17135"/>
                    </a:lnTo>
                    <a:cubicBezTo>
                      <a:pt x="0" y="12590"/>
                      <a:pt x="1805" y="8232"/>
                      <a:pt x="5019" y="5019"/>
                    </a:cubicBezTo>
                    <a:cubicBezTo>
                      <a:pt x="8232" y="1805"/>
                      <a:pt x="12590" y="0"/>
                      <a:pt x="17135" y="0"/>
                    </a:cubicBezTo>
                    <a:close/>
                  </a:path>
                </a:pathLst>
              </a:custGeom>
              <a:solidFill>
                <a:srgbClr val="9AB4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736087" cy="774187"/>
              </a:xfrm>
              <a:prstGeom prst="rect">
                <a:avLst/>
              </a:prstGeom>
            </p:spPr>
            <p:txBody>
              <a:bodyPr anchor="ctr" rtlCol="false" tIns="45146" lIns="45146" bIns="45146" rIns="4514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2700000">
              <a:off x="1140118" y="410002"/>
              <a:ext cx="2014971" cy="2064900"/>
              <a:chOff x="0" y="0"/>
              <a:chExt cx="492395" cy="50459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92395" cy="504596"/>
              </a:xfrm>
              <a:custGeom>
                <a:avLst/>
                <a:gdLst/>
                <a:ahLst/>
                <a:cxnLst/>
                <a:rect r="r" b="b" t="t" l="l"/>
                <a:pathLst>
                  <a:path h="504596" w="492395">
                    <a:moveTo>
                      <a:pt x="25615" y="0"/>
                    </a:moveTo>
                    <a:lnTo>
                      <a:pt x="466780" y="0"/>
                    </a:lnTo>
                    <a:cubicBezTo>
                      <a:pt x="480927" y="0"/>
                      <a:pt x="492395" y="11468"/>
                      <a:pt x="492395" y="25615"/>
                    </a:cubicBezTo>
                    <a:lnTo>
                      <a:pt x="492395" y="478981"/>
                    </a:lnTo>
                    <a:cubicBezTo>
                      <a:pt x="492395" y="493128"/>
                      <a:pt x="480927" y="504596"/>
                      <a:pt x="466780" y="504596"/>
                    </a:cubicBezTo>
                    <a:lnTo>
                      <a:pt x="25615" y="504596"/>
                    </a:lnTo>
                    <a:cubicBezTo>
                      <a:pt x="11468" y="504596"/>
                      <a:pt x="0" y="493128"/>
                      <a:pt x="0" y="478981"/>
                    </a:cubicBezTo>
                    <a:lnTo>
                      <a:pt x="0" y="25615"/>
                    </a:lnTo>
                    <a:cubicBezTo>
                      <a:pt x="0" y="11468"/>
                      <a:pt x="11468" y="0"/>
                      <a:pt x="25615" y="0"/>
                    </a:cubicBezTo>
                    <a:close/>
                  </a:path>
                </a:pathLst>
              </a:custGeom>
              <a:solidFill>
                <a:srgbClr val="3468A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92395" cy="542696"/>
              </a:xfrm>
              <a:prstGeom prst="rect">
                <a:avLst/>
              </a:prstGeom>
            </p:spPr>
            <p:txBody>
              <a:bodyPr anchor="ctr" rtlCol="false" tIns="45146" lIns="45146" bIns="45146" rIns="4514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645920" y="3200400"/>
            <a:ext cx="8412480" cy="4572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482"/>
              </a:lnSpc>
              <a:spcAft>
                <a:spcPts val="1600"/>
              </a:spcAft>
              <a:defRPr sz="2100" b="1">
                <a:solidFill>
                  <a:srgbClr val="1F497D"/>
                </a:solidFill>
                <a:latin typeface="Poppins"/>
              </a:defRPr>
            </a:pPr>
            <a:r>
              <a:t>Desenvolvido sob medida para a infraestrutura de missão crítica da Combr Soluções em Nuvem.</a:t>
            </a:r>
          </a:p>
          <a:p>
            <a:pPr>
              <a:defRPr sz="1800">
                <a:solidFill>
                  <a:srgbClr val="64748B"/>
                </a:solidFill>
                <a:latin typeface="Poppins"/>
              </a:defRPr>
            </a:pPr>
            <a:r>
              <a:t>O Wizard diagnostica e dimensiona a infraestrutura corporativa com base em quatro pilares técnicos essenciais para estabilidade, segurança e entregabilidade: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789920" y="2468880"/>
            <a:ext cx="237744" cy="1051560"/>
            <a:chOff x="0" y="0"/>
            <a:chExt cx="66593" cy="2504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45920" y="2103120"/>
            <a:ext cx="8412480" cy="750523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5882"/>
              </a:lnSpc>
              <a:defRPr sz="3200" b="1">
                <a:solidFill>
                  <a:srgbClr val="3468A2"/>
                </a:solidFill>
                <a:latin typeface="Poppins"/>
              </a:defRPr>
            </a:pPr>
            <a:r>
              <a:t>INFRAESTRUTURA COMBR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47120" y="2542032"/>
            <a:ext cx="3749039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300"/>
              </a:spcAft>
              <a:defRPr sz="1700" b="1">
                <a:solidFill>
                  <a:srgbClr val="1F497D"/>
                </a:solidFill>
                <a:latin typeface="Poppins"/>
              </a:defRPr>
            </a:pPr>
            <a:r>
              <a:t>ALMALINUX 9 ENTERPRISE</a:t>
            </a:r>
          </a:p>
          <a:p>
            <a:pPr>
              <a:defRPr sz="1300">
                <a:solidFill>
                  <a:srgbClr val="64748B"/>
                </a:solidFill>
                <a:latin typeface="Poppins"/>
              </a:defRPr>
            </a:pPr>
            <a:r>
              <a:t>Estabilidade e soberania corporativa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789920" y="3840480"/>
            <a:ext cx="237744" cy="1051560"/>
            <a:chOff x="0" y="0"/>
            <a:chExt cx="66593" cy="2504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789920" y="5212080"/>
            <a:ext cx="237744" cy="1051560"/>
            <a:chOff x="0" y="0"/>
            <a:chExt cx="66593" cy="25048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789920" y="6583680"/>
            <a:ext cx="237744" cy="1051560"/>
            <a:chOff x="0" y="0"/>
            <a:chExt cx="66593" cy="25048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247120" y="3913632"/>
            <a:ext cx="3749039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300"/>
              </a:spcAft>
              <a:defRPr sz="1700" b="1">
                <a:solidFill>
                  <a:srgbClr val="1F497D"/>
                </a:solidFill>
                <a:latin typeface="Poppins"/>
              </a:defRPr>
            </a:pPr>
            <a:r>
              <a:t>AWS &amp; ORACLE CLOUD</a:t>
            </a:r>
          </a:p>
          <a:p>
            <a:pPr>
              <a:defRPr sz="1300">
                <a:solidFill>
                  <a:srgbClr val="64748B"/>
                </a:solidFill>
                <a:latin typeface="Poppins"/>
              </a:defRPr>
            </a:pPr>
            <a:r>
              <a:t>Multi-cloud escalável e redundante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247120" y="5285232"/>
            <a:ext cx="3749039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300"/>
              </a:spcAft>
              <a:defRPr sz="1700" b="1">
                <a:solidFill>
                  <a:srgbClr val="1F497D"/>
                </a:solidFill>
                <a:latin typeface="Poppins"/>
              </a:defRPr>
            </a:pPr>
            <a:r>
              <a:t>BORDA CLOUDFLARE &amp; WAF</a:t>
            </a:r>
          </a:p>
          <a:p>
            <a:pPr>
              <a:defRPr sz="1300">
                <a:solidFill>
                  <a:srgbClr val="64748B"/>
                </a:solidFill>
                <a:latin typeface="Poppins"/>
              </a:defRPr>
            </a:pPr>
            <a:r>
              <a:t>Proteção avançada contra DDoS e spams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247120" y="6656832"/>
            <a:ext cx="3749039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300"/>
              </a:spcAft>
              <a:defRPr sz="1700" b="1">
                <a:solidFill>
                  <a:srgbClr val="1F497D"/>
                </a:solidFill>
                <a:latin typeface="Poppins"/>
              </a:defRPr>
            </a:pPr>
            <a:r>
              <a:t>BANCOS MYSQL &amp; POSTGRES</a:t>
            </a:r>
          </a:p>
          <a:p>
            <a:pPr>
              <a:defRPr sz="1300">
                <a:solidFill>
                  <a:srgbClr val="64748B"/>
                </a:solidFill>
                <a:latin typeface="Poppins"/>
              </a:defRPr>
            </a:pPr>
            <a:r>
              <a:t>Alta integridade e backups contínuos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43600" y="1280160"/>
            <a:ext cx="10515600" cy="50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  <a:defRPr sz="2000" b="1">
                <a:solidFill>
                  <a:srgbClr val="1F497D"/>
                </a:solidFill>
                <a:latin typeface="Poppins"/>
              </a:defRPr>
            </a:pPr>
            <a:r>
              <a:t>Padrão Zero Friction &amp; Curadoria Inteligente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grpSp>
        <p:nvGrpSpPr>
          <p:cNvPr name="Group 4" id="4"/>
          <p:cNvGrpSpPr/>
          <p:nvPr/>
        </p:nvGrpSpPr>
        <p:grpSpPr>
          <a:xfrm rot="5400000">
            <a:off x="-192496" y="-3348581"/>
            <a:ext cx="1532437" cy="10287000"/>
            <a:chOff x="0" y="0"/>
            <a:chExt cx="403605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360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03605">
                  <a:moveTo>
                    <a:pt x="0" y="0"/>
                  </a:moveTo>
                  <a:lnTo>
                    <a:pt x="403605" y="0"/>
                  </a:lnTo>
                  <a:lnTo>
                    <a:pt x="4036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03605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1188720"/>
            <a:ext cx="4389120" cy="97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7"/>
              </a:lnSpc>
              <a:spcBef>
                <a:spcPct val="0"/>
              </a:spcBef>
              <a:defRPr sz="2400" b="1">
                <a:solidFill>
                  <a:srgbClr val="FFFFFF"/>
                </a:solidFill>
                <a:latin typeface="Poppins"/>
              </a:defRPr>
            </a:pPr>
            <a:r>
              <a:t>UX/UI DESIGN</a:t>
            </a:r>
          </a:p>
        </p:txBody>
      </p:sp>
      <p:grpSp>
        <p:nvGrpSpPr>
          <p:cNvPr name="Group 8" id="8"/>
          <p:cNvGrpSpPr/>
          <p:nvPr/>
        </p:nvGrpSpPr>
        <p:grpSpPr>
          <a:xfrm rot="-2700000">
            <a:off x="16409197" y="8761311"/>
            <a:ext cx="2591208" cy="1295604"/>
            <a:chOff x="0" y="0"/>
            <a:chExt cx="660400" cy="330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4072203">
            <a:off x="-721881" y="9065460"/>
            <a:ext cx="2591208" cy="1295604"/>
            <a:chOff x="0" y="0"/>
            <a:chExt cx="660400" cy="330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309445" y="6844745"/>
            <a:ext cx="823689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71600" y="2560320"/>
            <a:ext cx="15361920" cy="69494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518160" indent="-259080" lvl="1">
              <a:lnSpc>
                <a:spcPts val="3359"/>
              </a:lnSpc>
              <a:spcAft>
                <a:spcPts val="2200"/>
              </a:spcAft>
              <a:defRPr sz="1400">
                <a:solidFill>
                  <a:srgbClr val="1F497D"/>
                </a:solidFill>
                <a:latin typeface="Poppins"/>
              </a:defRPr>
            </a:pPr>
            <a:r>
              <a:rPr b="1" sz="1900">
                <a:solidFill>
                  <a:srgbClr val="3468A2"/>
                </a:solidFill>
                <a:latin typeface="Poppins"/>
              </a:rPr>
              <a:t>•  1 Pergunta por Tela:  </a:t>
            </a:r>
            <a:r>
              <a:rPr b="0" sz="1800">
                <a:solidFill>
                  <a:srgbClr val="1F497D"/>
                </a:solidFill>
                <a:latin typeface="Poppins"/>
              </a:rPr>
              <a:t>Foco cognitivo total com avanço automático em 220ms após escolhas de clique único.</a:t>
            </a:r>
          </a:p>
          <a:p>
            <a:pPr algn="l">
              <a:spcAft>
                <a:spcPts val="2200"/>
              </a:spcAft>
            </a:pPr>
            <a:r>
              <a:rPr b="1" sz="1900">
                <a:solidFill>
                  <a:srgbClr val="3468A2"/>
                </a:solidFill>
                <a:latin typeface="Poppins"/>
              </a:rPr>
              <a:t>•  Navegação Ágil por Teclado:  </a:t>
            </a:r>
            <a:r>
              <a:rPr b="0" sz="1800">
                <a:solidFill>
                  <a:srgbClr val="1F497D"/>
                </a:solidFill>
                <a:latin typeface="Poppins"/>
              </a:rPr>
              <a:t>Acessibilidade total via teclas numéricas (1 a 9), Enter para avançar e Esc para voltar.</a:t>
            </a:r>
          </a:p>
          <a:p>
            <a:pPr algn="l">
              <a:spcAft>
                <a:spcPts val="2200"/>
              </a:spcAft>
            </a:pPr>
            <a:r>
              <a:rPr b="1" sz="1900">
                <a:solidFill>
                  <a:srgbClr val="3468A2"/>
                </a:solidFill>
                <a:latin typeface="Poppins"/>
              </a:rPr>
              <a:t>•  Sliders Reativos em Tempo Real:  </a:t>
            </a:r>
            <a:r>
              <a:rPr b="0" sz="1800">
                <a:solidFill>
                  <a:srgbClr val="1F497D"/>
                </a:solidFill>
                <a:latin typeface="Poppins"/>
              </a:rPr>
              <a:t>Dimensionamento dinâmico de contas e quotas por usuário com recálculo instantâneo.</a:t>
            </a:r>
          </a:p>
          <a:p>
            <a:pPr algn="l">
              <a:spcAft>
                <a:spcPts val="2200"/>
              </a:spcAft>
            </a:pPr>
            <a:r>
              <a:rPr b="1" sz="1900">
                <a:solidFill>
                  <a:srgbClr val="3468A2"/>
                </a:solidFill>
                <a:latin typeface="Poppins"/>
              </a:rPr>
              <a:t>•  Conversão Dinâmica de Unidades:  </a:t>
            </a:r>
            <a:r>
              <a:rPr b="0" sz="1800">
                <a:solidFill>
                  <a:srgbClr val="1F497D"/>
                </a:solidFill>
                <a:latin typeface="Poppins"/>
              </a:rPr>
              <a:t>Tradução transparente e imediata de Gigabytes para Terabytes com margem técnica de 20%.</a:t>
            </a:r>
          </a:p>
          <a:p>
            <a:pPr algn="l">
              <a:spcAft>
                <a:spcPts val="2200"/>
              </a:spcAft>
            </a:pPr>
            <a:r>
              <a:rPr b="1" sz="1900">
                <a:solidFill>
                  <a:srgbClr val="3468A2"/>
                </a:solidFill>
                <a:latin typeface="Poppins"/>
              </a:rPr>
              <a:t>•  Indicador de Ritmo e Progresso:  </a:t>
            </a:r>
            <a:r>
              <a:rPr b="0" sz="1800">
                <a:solidFill>
                  <a:srgbClr val="1F497D"/>
                </a:solidFill>
                <a:latin typeface="Poppins"/>
              </a:rPr>
              <a:t>Barra contínua de progresso com estimativa de tempo visível (&lt; 2 minutos).</a:t>
            </a:r>
          </a:p>
          <a:p>
            <a:pPr algn="l">
              <a:spcAft>
                <a:spcPts val="2200"/>
              </a:spcAft>
            </a:pPr>
            <a:r>
              <a:rPr b="1" sz="1900">
                <a:solidFill>
                  <a:srgbClr val="3468A2"/>
                </a:solidFill>
                <a:latin typeface="Poppins"/>
              </a:rPr>
              <a:t>•  Design Responsivo Enterprise:  </a:t>
            </a:r>
            <a:r>
              <a:rPr b="0" sz="1800">
                <a:solidFill>
                  <a:srgbClr val="1F497D"/>
                </a:solidFill>
                <a:latin typeface="Poppins"/>
              </a:rPr>
              <a:t>Experiência fluida e consistente em desktops, tablets e smartphones corporativos.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230901" cy="10287000"/>
            <a:chOff x="0" y="0"/>
            <a:chExt cx="137768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76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77686">
                  <a:moveTo>
                    <a:pt x="0" y="0"/>
                  </a:moveTo>
                  <a:lnTo>
                    <a:pt x="1377686" y="0"/>
                  </a:lnTo>
                  <a:lnTo>
                    <a:pt x="137768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7768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57150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407018" y="17282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49618" y="269019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407018" y="52238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44260" y="754303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943600" y="2560320"/>
            <a:ext cx="1280160" cy="1280160"/>
          </a:xfrm>
          <a:custGeom>
            <a:avLst/>
            <a:gdLst/>
            <a:ahLst/>
            <a:cxnLst/>
            <a:rect r="r" b="b" t="t" l="l"/>
            <a:pathLst>
              <a:path h="1341446" w="1341446">
                <a:moveTo>
                  <a:pt x="0" y="0"/>
                </a:moveTo>
                <a:lnTo>
                  <a:pt x="1341446" y="0"/>
                </a:lnTo>
                <a:lnTo>
                  <a:pt x="1341446" y="1341446"/>
                </a:lnTo>
                <a:lnTo>
                  <a:pt x="0" y="13414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943600" y="6949440"/>
            <a:ext cx="1280160" cy="1280160"/>
          </a:xfrm>
          <a:custGeom>
            <a:avLst/>
            <a:gdLst/>
            <a:ahLst/>
            <a:cxnLst/>
            <a:rect r="r" b="b" t="t" l="l"/>
            <a:pathLst>
              <a:path h="818457" w="818457">
                <a:moveTo>
                  <a:pt x="0" y="0"/>
                </a:moveTo>
                <a:lnTo>
                  <a:pt x="818457" y="0"/>
                </a:lnTo>
                <a:lnTo>
                  <a:pt x="818457" y="818457"/>
                </a:lnTo>
                <a:lnTo>
                  <a:pt x="0" y="818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943600" y="4754880"/>
            <a:ext cx="1280160" cy="1280160"/>
          </a:xfrm>
          <a:custGeom>
            <a:avLst/>
            <a:gdLst/>
            <a:ahLst/>
            <a:cxnLst/>
            <a:rect r="r" b="b" t="t" l="l"/>
            <a:pathLst>
              <a:path h="919760" w="923866">
                <a:moveTo>
                  <a:pt x="0" y="0"/>
                </a:moveTo>
                <a:lnTo>
                  <a:pt x="923866" y="0"/>
                </a:lnTo>
                <a:lnTo>
                  <a:pt x="923866" y="919759"/>
                </a:lnTo>
                <a:lnTo>
                  <a:pt x="0" y="9197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TextBox 13" id="13"/>
          <p:cNvSpPr txBox="true"/>
          <p:nvPr/>
        </p:nvSpPr>
        <p:spPr>
          <a:xfrm rot="0">
            <a:off x="5943600" y="1097280"/>
            <a:ext cx="10058400" cy="75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2"/>
              </a:lnSpc>
              <a:defRPr sz="3200" b="1">
                <a:solidFill>
                  <a:srgbClr val="3468A2"/>
                </a:solidFill>
                <a:latin typeface="Poppins"/>
              </a:defRPr>
            </a:pPr>
            <a:r>
              <a:t>O FUNIL DE DIAGNÓSTICO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89520" y="2468880"/>
            <a:ext cx="9875520" cy="100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2"/>
              </a:lnSpc>
              <a:defRPr sz="2200" b="1">
                <a:solidFill>
                  <a:srgbClr val="1F497D"/>
                </a:solidFill>
                <a:latin typeface="Poppins"/>
              </a:defRPr>
            </a:pPr>
            <a:r>
              <a:t>Curadoria Simplificada em Menos de 2 Minutos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>
              <a:defRPr sz="1400" b="1">
                <a:solidFill>
                  <a:srgbClr val="3468A2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89520" y="3154680"/>
            <a:ext cx="9875520" cy="78227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82"/>
              </a:lnSpc>
              <a:defRPr sz="1700">
                <a:solidFill>
                  <a:srgbClr val="64748B"/>
                </a:solidFill>
                <a:latin typeface="Poppins"/>
              </a:defRPr>
            </a:pPr>
            <a:r>
              <a:t>O decisor responde apenas perguntas estratégicas para o negócio, sem o atrito de jargões técnicos complexos.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89520" y="4663440"/>
            <a:ext cx="9875520" cy="100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2"/>
              </a:lnSpc>
              <a:defRPr sz="2200" b="1">
                <a:solidFill>
                  <a:srgbClr val="1F497D"/>
                </a:solidFill>
                <a:latin typeface="Poppins"/>
              </a:defRPr>
            </a:pPr>
            <a:r>
              <a:t>Volume &amp; Hospedagem (Steps 1 e 2)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89520" y="5349240"/>
            <a:ext cx="9875520" cy="78227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82"/>
              </a:lnSpc>
              <a:defRPr sz="1700">
                <a:solidFill>
                  <a:srgbClr val="64748B"/>
                </a:solidFill>
                <a:latin typeface="Poppins"/>
              </a:defRPr>
            </a:pPr>
            <a:r>
              <a:t>Mapeamento da quantidade de contas, quotas individuais em GB e definição do modelo de nuvem ideal.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89520" y="6858000"/>
            <a:ext cx="9875520" cy="50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2"/>
              </a:lnSpc>
              <a:defRPr sz="2200" b="1">
                <a:solidFill>
                  <a:srgbClr val="1F497D"/>
                </a:solidFill>
                <a:latin typeface="Poppins"/>
              </a:defRPr>
            </a:pPr>
            <a:r>
              <a:t>Segurança, Backup &amp; Entrega (Steps 3 a 8)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89520" y="7543800"/>
            <a:ext cx="9875520" cy="78227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82"/>
              </a:lnSpc>
              <a:defRPr sz="1700">
                <a:solidFill>
                  <a:srgbClr val="64748B"/>
                </a:solidFill>
                <a:latin typeface="Poppins"/>
              </a:defRPr>
            </a:pPr>
            <a:r>
              <a:t>Proteção de borda Cloudflare WAF, conformidade SPF/DKIM/DMARC, SaveMail WORM imutável e exportação imediata do JSON.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57099" y="0"/>
            <a:ext cx="5230901" cy="10287000"/>
            <a:chOff x="0" y="0"/>
            <a:chExt cx="137768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76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77686">
                  <a:moveTo>
                    <a:pt x="0" y="0"/>
                  </a:moveTo>
                  <a:lnTo>
                    <a:pt x="1377686" y="0"/>
                  </a:lnTo>
                  <a:lnTo>
                    <a:pt x="137768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7768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691159" y="-171411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41291" y="51610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98691" y="303347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41291" y="556712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04049" y="788631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5720000" y="3200400"/>
            <a:ext cx="11430000" cy="5852160"/>
          </a:xfrm>
          <a:custGeom>
            <a:avLst/>
            <a:gdLst/>
            <a:ahLst/>
            <a:cxnLst/>
            <a:rect r="r" b="b" t="t" l="l"/>
            <a:pathLst>
              <a:path h="5074682" w="9597508">
                <a:moveTo>
                  <a:pt x="0" y="0"/>
                </a:moveTo>
                <a:lnTo>
                  <a:pt x="9597508" y="0"/>
                </a:lnTo>
                <a:lnTo>
                  <a:pt x="9597508" y="5074682"/>
                </a:lnTo>
                <a:lnTo>
                  <a:pt x="0" y="5074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4400" y="822960"/>
            <a:ext cx="9144000" cy="75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2"/>
              </a:lnSpc>
              <a:defRPr sz="3200" b="1">
                <a:solidFill>
                  <a:srgbClr val="3468A2"/>
                </a:solidFill>
                <a:latin typeface="Poppins"/>
              </a:defRPr>
            </a:pPr>
            <a:r>
              <a:t>IMPACTO FINANCEIRO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1645920"/>
            <a:ext cx="11887200" cy="132710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502"/>
              </a:lnSpc>
              <a:defRPr sz="2000">
                <a:solidFill>
                  <a:srgbClr val="1F497D"/>
                </a:solidFill>
                <a:latin typeface="Poppins"/>
              </a:defRPr>
            </a:pPr>
            <a:r>
              <a:t>Até 70% de redução na fatura corporativa ao combinar contas executivas no M365/Google com operação na nuvem corporativa AlmaLinux.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>
              <a:defRPr sz="1400" b="1">
                <a:solidFill>
                  <a:srgbClr val="3468A2"/>
                </a:solidFill>
                <a:latin typeface="Poppins"/>
              </a:defRPr>
            </a:pPr>
            <a: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9418320"/>
            <a:ext cx="114300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  <a:defRPr sz="1400" b="1">
                <a:solidFill>
                  <a:srgbClr val="64748B"/>
                </a:solidFill>
                <a:latin typeface="Poppins"/>
              </a:defRPr>
            </a:pPr>
            <a:r>
              <a:t>Cenário de Estudo: 100 Contas Corporativas • Economia Real de mais de R$ 100.000 / ano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8412480"/>
            <a:ext cx="11338560" cy="3657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0" y="4023360"/>
            <a:ext cx="3657600" cy="43891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Poppins"/>
              </a:defRPr>
            </a:pPr>
            <a:r>
              <a:t>R$ 120 / conta / mês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FEE2E2"/>
                </a:solidFill>
                <a:latin typeface="Poppins"/>
              </a:defRPr>
            </a:pPr>
            <a:r>
              <a:t>Fatura 100% em Dólar (US$)</a:t>
            </a:r>
          </a:p>
          <a:p>
            <a:pPr algn="ctr">
              <a:defRPr sz="1300">
                <a:solidFill>
                  <a:srgbClr val="FECACA"/>
                </a:solidFill>
                <a:latin typeface="Poppins"/>
              </a:defRPr>
            </a:pPr>
            <a:r>
              <a:t>M365 Business / Google Workspace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461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C2626"/>
                </a:solidFill>
                <a:latin typeface="Poppins"/>
              </a:defRPr>
            </a:pPr>
            <a:r>
              <a:t>R$ 144.000 / 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854964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497D"/>
                </a:solidFill>
                <a:latin typeface="Poppins"/>
              </a:defRPr>
            </a:pPr>
            <a:r>
              <a:t>100% SaaS Estrangeiro</a:t>
            </a:r>
          </a:p>
          <a:p>
            <a:pPr algn="ctr">
              <a:defRPr sz="1300">
                <a:solidFill>
                  <a:srgbClr val="64748B"/>
                </a:solidFill>
                <a:latin typeface="Poppins"/>
              </a:defRPr>
            </a:pPr>
            <a:r>
              <a:t>Custo dolarizado sem otimização operacional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4937760"/>
            <a:ext cx="2011680" cy="1828800"/>
          </a:xfrm>
          <a:prstGeom prst="roundRect">
            <a:avLst/>
          </a:prstGeom>
          <a:solidFill>
            <a:srgbClr val="3468A2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200" b="1">
                <a:solidFill>
                  <a:srgbClr val="FFFFFF"/>
                </a:solidFill>
                <a:latin typeface="Poppins"/>
              </a:defRPr>
            </a:pPr>
            <a:r>
              <a:t>-70%</a:t>
            </a:r>
          </a:p>
          <a:p>
            <a:pPr algn="ctr">
              <a:defRPr sz="1300" b="1">
                <a:solidFill>
                  <a:srgbClr val="BAE6FD"/>
                </a:solidFill>
                <a:latin typeface="Poppins"/>
              </a:defRPr>
            </a:pPr>
            <a:r>
              <a:t>ECONOMIA</a:t>
            </a:r>
          </a:p>
          <a:p>
            <a:pPr algn="ctr">
              <a:defRPr sz="1100" b="1">
                <a:solidFill>
                  <a:srgbClr val="E0F2FE"/>
                </a:solidFill>
                <a:latin typeface="Poppins"/>
              </a:defRPr>
            </a:pPr>
            <a:r>
              <a:t>ANUAL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7095744"/>
            <a:ext cx="3657600" cy="131673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700" b="1">
                <a:solidFill>
                  <a:srgbClr val="FFFFFF"/>
                </a:solidFill>
                <a:latin typeface="Poppins"/>
              </a:defRPr>
            </a:pPr>
            <a:r>
              <a:t>R$ 36 / conta / mês</a:t>
            </a:r>
          </a:p>
          <a:p>
            <a:pPr algn="ctr">
              <a:defRPr sz="1300">
                <a:solidFill>
                  <a:srgbClr val="D1FAE5"/>
                </a:solidFill>
                <a:latin typeface="Poppins"/>
              </a:defRPr>
            </a:pPr>
            <a:r>
              <a:t>100% em Moeda Local (BRL)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62636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59669"/>
                </a:solidFill>
                <a:latin typeface="Poppins"/>
              </a:defRPr>
            </a:pPr>
            <a:r>
              <a:t>R$ 43.200 / ano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854964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497D"/>
                </a:solidFill>
                <a:latin typeface="Poppins"/>
              </a:defRPr>
            </a:pPr>
            <a:r>
              <a:t>Nuvem Híbrida Inteligente</a:t>
            </a:r>
          </a:p>
          <a:p>
            <a:pPr algn="ctr">
              <a:defRPr sz="1300">
                <a:solidFill>
                  <a:srgbClr val="64748B"/>
                </a:solidFill>
                <a:latin typeface="Poppins"/>
              </a:defRPr>
            </a:pPr>
            <a:r>
              <a:t>AlmaLinux Corporativo + M365 Executivo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" y="2606040"/>
            <a:ext cx="731520" cy="731520"/>
            <a:chOff x="0" y="0"/>
            <a:chExt cx="249657" cy="2496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57" cy="249657"/>
            </a:xfrm>
            <a:custGeom>
              <a:avLst/>
              <a:gdLst/>
              <a:ahLst/>
              <a:cxnLst/>
              <a:rect r="r" b="b" t="t" l="l"/>
              <a:pathLst>
                <a:path h="249657" w="249657">
                  <a:moveTo>
                    <a:pt x="0" y="0"/>
                  </a:moveTo>
                  <a:lnTo>
                    <a:pt x="249657" y="0"/>
                  </a:lnTo>
                  <a:lnTo>
                    <a:pt x="249657" y="249657"/>
                  </a:lnTo>
                  <a:lnTo>
                    <a:pt x="0" y="249657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49657" cy="306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defRPr sz="2000" b="1">
                  <a:solidFill>
                    <a:srgbClr val="FFFFFF"/>
                  </a:solidFill>
                  <a:latin typeface="Poppins"/>
                </a:defRPr>
              </a:pPr>
              <a:r>
                <a:t>01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720000" y="3672152"/>
            <a:ext cx="333082" cy="452334"/>
          </a:xfrm>
          <a:custGeom>
            <a:avLst/>
            <a:gdLst/>
            <a:ahLst/>
            <a:cxnLst/>
            <a:rect r="r" b="b" t="t" l="l"/>
            <a:pathLst>
              <a:path h="452334" w="333082">
                <a:moveTo>
                  <a:pt x="0" y="0"/>
                </a:moveTo>
                <a:lnTo>
                  <a:pt x="333082" y="0"/>
                </a:lnTo>
                <a:lnTo>
                  <a:pt x="333082" y="452334"/>
                </a:lnTo>
                <a:lnTo>
                  <a:pt x="0" y="45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11680" y="2560320"/>
            <a:ext cx="13898880" cy="1051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502"/>
              </a:lnSpc>
              <a:spcAft>
                <a:spcPts val="300"/>
              </a:spcAft>
              <a:defRPr sz="1900" b="1">
                <a:solidFill>
                  <a:srgbClr val="3468A2"/>
                </a:solidFill>
                <a:latin typeface="Poppins"/>
              </a:defRPr>
            </a:pPr>
            <a:r>
              <a:t>Nuvem Híbrida Inteligente (Modelo Recomendado)</a:t>
            </a:r>
          </a:p>
          <a:p>
            <a:pPr>
              <a:defRPr sz="1600">
                <a:solidFill>
                  <a:srgbClr val="1F497D"/>
                </a:solidFill>
                <a:latin typeface="Poppins"/>
              </a:defRPr>
            </a:pPr>
            <a:r>
              <a:t>Combina Microsoft 365 / Google para diretoria com AlmaLinux corporativo para operação, gerando até 70% de economia.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>
              <a:defRPr sz="1400" b="1">
                <a:solidFill>
                  <a:srgbClr val="3468A2"/>
                </a:solidFill>
                <a:latin typeface="Poppins"/>
              </a:defRPr>
            </a:pPr>
            <a:r>
              <a:t>4</a:t>
            </a:r>
          </a:p>
        </p:txBody>
      </p:sp>
      <p:grpSp>
        <p:nvGrpSpPr>
          <p:cNvPr name="Group 8" id="8"/>
          <p:cNvGrpSpPr/>
          <p:nvPr/>
        </p:nvGrpSpPr>
        <p:grpSpPr>
          <a:xfrm rot="5400000">
            <a:off x="-356361" y="-3348581"/>
            <a:ext cx="1532437" cy="10287000"/>
            <a:chOff x="0" y="0"/>
            <a:chExt cx="403605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360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03605">
                  <a:moveTo>
                    <a:pt x="0" y="0"/>
                  </a:moveTo>
                  <a:lnTo>
                    <a:pt x="403605" y="0"/>
                  </a:lnTo>
                  <a:lnTo>
                    <a:pt x="4036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03605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1188720"/>
            <a:ext cx="4389120" cy="97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7"/>
              </a:lnSpc>
              <a:spcBef>
                <a:spcPct val="0"/>
              </a:spcBef>
              <a:defRPr sz="2400" b="1">
                <a:solidFill>
                  <a:srgbClr val="FFFFFF"/>
                </a:solidFill>
                <a:latin typeface="Poppins"/>
              </a:defRPr>
            </a:pPr>
            <a:r>
              <a:t>ARQUITETURAS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43600" y="1280160"/>
            <a:ext cx="10515600" cy="50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  <a:defRPr sz="2000" b="1">
                <a:solidFill>
                  <a:srgbClr val="1F497D"/>
                </a:solidFill>
                <a:latin typeface="Poppins"/>
              </a:defRPr>
            </a:pPr>
            <a:r>
              <a:t>5 Modelos de Infraestrutura Especializada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11680" y="3749039"/>
            <a:ext cx="13898880" cy="1051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502"/>
              </a:lnSpc>
              <a:spcAft>
                <a:spcPts val="300"/>
              </a:spcAft>
              <a:defRPr sz="1900" b="1">
                <a:solidFill>
                  <a:srgbClr val="3468A2"/>
                </a:solidFill>
                <a:latin typeface="Poppins"/>
              </a:defRPr>
            </a:pPr>
            <a:r>
              <a:t>Cloud Privada Corporativa (Soberania Total)</a:t>
            </a:r>
          </a:p>
          <a:p>
            <a:pPr>
              <a:defRPr sz="1600">
                <a:solidFill>
                  <a:srgbClr val="1F497D"/>
                </a:solidFill>
                <a:latin typeface="Poppins"/>
              </a:defRPr>
            </a:pPr>
            <a:r>
              <a:t>Servidores dedicados com Zimbra Collaboration e cPanel em AlmaLinux 9, garantindo controle irrestrito de dados e conformidade LGPD.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11680" y="4937760"/>
            <a:ext cx="13898880" cy="1051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502"/>
              </a:lnSpc>
              <a:spcAft>
                <a:spcPts val="300"/>
              </a:spcAft>
              <a:defRPr sz="1900" b="1">
                <a:solidFill>
                  <a:srgbClr val="3468A2"/>
                </a:solidFill>
                <a:latin typeface="Poppins"/>
              </a:defRPr>
            </a:pPr>
            <a:r>
              <a:t>SaaS Corporativo Gerenciado</a:t>
            </a:r>
          </a:p>
          <a:p>
            <a:pPr>
              <a:defRPr sz="1600">
                <a:solidFill>
                  <a:srgbClr val="1F497D"/>
                </a:solidFill>
                <a:latin typeface="Poppins"/>
              </a:defRPr>
            </a:pPr>
            <a:r>
              <a:t>Gestão e faturamento consolidado em moeda local (BRL) para Microsoft 365 e Google Workspace com suporte técnico N2/N3 da Combr.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05840" y="3794759"/>
            <a:ext cx="731520" cy="731520"/>
            <a:chOff x="0" y="0"/>
            <a:chExt cx="249657" cy="2496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9657" cy="249657"/>
            </a:xfrm>
            <a:custGeom>
              <a:avLst/>
              <a:gdLst/>
              <a:ahLst/>
              <a:cxnLst/>
              <a:rect r="r" b="b" t="t" l="l"/>
              <a:pathLst>
                <a:path h="249657" w="249657">
                  <a:moveTo>
                    <a:pt x="0" y="0"/>
                  </a:moveTo>
                  <a:lnTo>
                    <a:pt x="249657" y="0"/>
                  </a:lnTo>
                  <a:lnTo>
                    <a:pt x="249657" y="249657"/>
                  </a:lnTo>
                  <a:lnTo>
                    <a:pt x="0" y="249657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49657" cy="306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defRPr sz="2000" b="1">
                  <a:solidFill>
                    <a:srgbClr val="FFFFFF"/>
                  </a:solidFill>
                  <a:latin typeface="Poppins"/>
                </a:defRPr>
              </a:pPr>
              <a:r>
                <a:t>02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5720000" y="4756054"/>
            <a:ext cx="333082" cy="452334"/>
          </a:xfrm>
          <a:custGeom>
            <a:avLst/>
            <a:gdLst/>
            <a:ahLst/>
            <a:cxnLst/>
            <a:rect r="r" b="b" t="t" l="l"/>
            <a:pathLst>
              <a:path h="452334" w="333082">
                <a:moveTo>
                  <a:pt x="0" y="0"/>
                </a:moveTo>
                <a:lnTo>
                  <a:pt x="333082" y="0"/>
                </a:lnTo>
                <a:lnTo>
                  <a:pt x="333082" y="452334"/>
                </a:lnTo>
                <a:lnTo>
                  <a:pt x="0" y="45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05840" y="4983480"/>
            <a:ext cx="731520" cy="731520"/>
            <a:chOff x="0" y="0"/>
            <a:chExt cx="249657" cy="2496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9657" cy="249657"/>
            </a:xfrm>
            <a:custGeom>
              <a:avLst/>
              <a:gdLst/>
              <a:ahLst/>
              <a:cxnLst/>
              <a:rect r="r" b="b" t="t" l="l"/>
              <a:pathLst>
                <a:path h="249657" w="249657">
                  <a:moveTo>
                    <a:pt x="0" y="0"/>
                  </a:moveTo>
                  <a:lnTo>
                    <a:pt x="249657" y="0"/>
                  </a:lnTo>
                  <a:lnTo>
                    <a:pt x="249657" y="249657"/>
                  </a:lnTo>
                  <a:lnTo>
                    <a:pt x="0" y="249657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49657" cy="306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defRPr sz="2000" b="1">
                  <a:solidFill>
                    <a:srgbClr val="FFFFFF"/>
                  </a:solidFill>
                  <a:latin typeface="Poppins"/>
                </a:defRPr>
              </a:pPr>
              <a:r>
                <a:t>03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45720000" y="5837322"/>
            <a:ext cx="333082" cy="452334"/>
          </a:xfrm>
          <a:custGeom>
            <a:avLst/>
            <a:gdLst/>
            <a:ahLst/>
            <a:cxnLst/>
            <a:rect r="r" b="b" t="t" l="l"/>
            <a:pathLst>
              <a:path h="452334" w="333082">
                <a:moveTo>
                  <a:pt x="0" y="0"/>
                </a:moveTo>
                <a:lnTo>
                  <a:pt x="333082" y="0"/>
                </a:lnTo>
                <a:lnTo>
                  <a:pt x="333082" y="452334"/>
                </a:lnTo>
                <a:lnTo>
                  <a:pt x="0" y="45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05840" y="6172200"/>
            <a:ext cx="731520" cy="731520"/>
            <a:chOff x="0" y="0"/>
            <a:chExt cx="249657" cy="2496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9657" cy="249657"/>
            </a:xfrm>
            <a:custGeom>
              <a:avLst/>
              <a:gdLst/>
              <a:ahLst/>
              <a:cxnLst/>
              <a:rect r="r" b="b" t="t" l="l"/>
              <a:pathLst>
                <a:path h="249657" w="249657">
                  <a:moveTo>
                    <a:pt x="0" y="0"/>
                  </a:moveTo>
                  <a:lnTo>
                    <a:pt x="249657" y="0"/>
                  </a:lnTo>
                  <a:lnTo>
                    <a:pt x="249657" y="249657"/>
                  </a:lnTo>
                  <a:lnTo>
                    <a:pt x="0" y="249657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49657" cy="306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defRPr sz="2000" b="1">
                  <a:solidFill>
                    <a:srgbClr val="FFFFFF"/>
                  </a:solidFill>
                  <a:latin typeface="Poppins"/>
                </a:defRPr>
              </a:pPr>
              <a:r>
                <a:t>04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45720000" y="6918591"/>
            <a:ext cx="333082" cy="452334"/>
          </a:xfrm>
          <a:custGeom>
            <a:avLst/>
            <a:gdLst/>
            <a:ahLst/>
            <a:cxnLst/>
            <a:rect r="r" b="b" t="t" l="l"/>
            <a:pathLst>
              <a:path h="452334" w="333082">
                <a:moveTo>
                  <a:pt x="0" y="0"/>
                </a:moveTo>
                <a:lnTo>
                  <a:pt x="333082" y="0"/>
                </a:lnTo>
                <a:lnTo>
                  <a:pt x="333082" y="452334"/>
                </a:lnTo>
                <a:lnTo>
                  <a:pt x="0" y="45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011680" y="6126480"/>
            <a:ext cx="13898880" cy="1051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502"/>
              </a:lnSpc>
              <a:spcAft>
                <a:spcPts val="300"/>
              </a:spcAft>
              <a:defRPr sz="1900" b="1">
                <a:solidFill>
                  <a:srgbClr val="3468A2"/>
                </a:solidFill>
                <a:latin typeface="Poppins"/>
              </a:defRPr>
            </a:pPr>
            <a:r>
              <a:t>Cluster VPS Dedicado de Alta Performance</a:t>
            </a:r>
          </a:p>
          <a:p>
            <a:pPr>
              <a:defRPr sz="1600">
                <a:solidFill>
                  <a:srgbClr val="1F497D"/>
                </a:solidFill>
                <a:latin typeface="Poppins"/>
              </a:defRPr>
            </a:pPr>
            <a:r>
              <a:t>Instâncias escaláveis na AWS e Oracle Cloud Infrastructure com IPs dedicados aquecidos e alta entregabilidade transacional.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05840" y="7360920"/>
            <a:ext cx="731520" cy="731520"/>
            <a:chOff x="0" y="0"/>
            <a:chExt cx="249657" cy="2496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9657" cy="249657"/>
            </a:xfrm>
            <a:custGeom>
              <a:avLst/>
              <a:gdLst/>
              <a:ahLst/>
              <a:cxnLst/>
              <a:rect r="r" b="b" t="t" l="l"/>
              <a:pathLst>
                <a:path h="249657" w="249657">
                  <a:moveTo>
                    <a:pt x="0" y="0"/>
                  </a:moveTo>
                  <a:lnTo>
                    <a:pt x="249657" y="0"/>
                  </a:lnTo>
                  <a:lnTo>
                    <a:pt x="249657" y="249657"/>
                  </a:lnTo>
                  <a:lnTo>
                    <a:pt x="0" y="249657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249657" cy="306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defRPr sz="2000" b="1">
                  <a:solidFill>
                    <a:srgbClr val="FFFFFF"/>
                  </a:solidFill>
                  <a:latin typeface="Poppins"/>
                </a:defRPr>
              </a:pPr>
              <a:r>
                <a:t>05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45720000" y="7999859"/>
            <a:ext cx="333082" cy="452334"/>
          </a:xfrm>
          <a:custGeom>
            <a:avLst/>
            <a:gdLst/>
            <a:ahLst/>
            <a:cxnLst/>
            <a:rect r="r" b="b" t="t" l="l"/>
            <a:pathLst>
              <a:path h="452334" w="333082">
                <a:moveTo>
                  <a:pt x="0" y="0"/>
                </a:moveTo>
                <a:lnTo>
                  <a:pt x="333082" y="0"/>
                </a:lnTo>
                <a:lnTo>
                  <a:pt x="333082" y="452334"/>
                </a:lnTo>
                <a:lnTo>
                  <a:pt x="0" y="45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011680" y="7315200"/>
            <a:ext cx="13898880" cy="1051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502"/>
              </a:lnSpc>
              <a:spcAft>
                <a:spcPts val="300"/>
              </a:spcAft>
              <a:defRPr sz="1900" b="1">
                <a:solidFill>
                  <a:srgbClr val="3468A2"/>
                </a:solidFill>
                <a:latin typeface="Poppins"/>
              </a:defRPr>
            </a:pPr>
            <a:r>
              <a:t>Storage NVMe &amp; Backup SaveMail Pro</a:t>
            </a:r>
          </a:p>
          <a:p>
            <a:pPr>
              <a:defRPr sz="1600">
                <a:solidFill>
                  <a:srgbClr val="1F497D"/>
                </a:solidFill>
                <a:latin typeface="Poppins"/>
              </a:defRPr>
            </a:pPr>
            <a:r>
              <a:t>Armazenamento ultrarrápido NVMe com retenção imutável WORM de até 5 anos contra ransomware e exclusões acidentais.</a:t>
            </a:r>
          </a:p>
        </p:txBody>
      </p:sp>
      <p:grpSp>
        <p:nvGrpSpPr>
          <p:cNvPr name="Group 33" id="33"/>
          <p:cNvGrpSpPr/>
          <p:nvPr/>
        </p:nvGrpSpPr>
        <p:grpSpPr>
          <a:xfrm rot="4072203">
            <a:off x="-885747" y="9348737"/>
            <a:ext cx="2591208" cy="1295604"/>
            <a:chOff x="0" y="0"/>
            <a:chExt cx="660400" cy="330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8666402">
            <a:off x="16681687" y="-78295"/>
            <a:ext cx="2591208" cy="1295604"/>
            <a:chOff x="0" y="0"/>
            <a:chExt cx="660400" cy="330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377440"/>
            <a:ext cx="219456" cy="5669280"/>
            <a:chOff x="0" y="0"/>
            <a:chExt cx="58288" cy="13676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288" cy="1367624"/>
            </a:xfrm>
            <a:custGeom>
              <a:avLst/>
              <a:gdLst/>
              <a:ahLst/>
              <a:cxnLst/>
              <a:rect r="r" b="b" t="t" l="l"/>
              <a:pathLst>
                <a:path h="1367624" w="58288">
                  <a:moveTo>
                    <a:pt x="29144" y="0"/>
                  </a:moveTo>
                  <a:lnTo>
                    <a:pt x="29144" y="0"/>
                  </a:lnTo>
                  <a:cubicBezTo>
                    <a:pt x="45240" y="0"/>
                    <a:pt x="58288" y="13048"/>
                    <a:pt x="58288" y="29144"/>
                  </a:cubicBezTo>
                  <a:lnTo>
                    <a:pt x="58288" y="1338480"/>
                  </a:lnTo>
                  <a:cubicBezTo>
                    <a:pt x="58288" y="1346209"/>
                    <a:pt x="55218" y="1353622"/>
                    <a:pt x="49752" y="1359088"/>
                  </a:cubicBezTo>
                  <a:cubicBezTo>
                    <a:pt x="44286" y="1364553"/>
                    <a:pt x="36874" y="1367624"/>
                    <a:pt x="29144" y="1367624"/>
                  </a:cubicBezTo>
                  <a:lnTo>
                    <a:pt x="29144" y="1367624"/>
                  </a:lnTo>
                  <a:cubicBezTo>
                    <a:pt x="13048" y="1367624"/>
                    <a:pt x="0" y="1354575"/>
                    <a:pt x="0" y="1338480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8288" cy="1424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26880" y="2377440"/>
            <a:ext cx="219456" cy="5669280"/>
            <a:chOff x="0" y="0"/>
            <a:chExt cx="60215" cy="1366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215" cy="1366625"/>
            </a:xfrm>
            <a:custGeom>
              <a:avLst/>
              <a:gdLst/>
              <a:ahLst/>
              <a:cxnLst/>
              <a:rect r="r" b="b" t="t" l="l"/>
              <a:pathLst>
                <a:path h="1366625" w="60215">
                  <a:moveTo>
                    <a:pt x="30107" y="0"/>
                  </a:moveTo>
                  <a:lnTo>
                    <a:pt x="30107" y="0"/>
                  </a:lnTo>
                  <a:cubicBezTo>
                    <a:pt x="38092" y="0"/>
                    <a:pt x="45750" y="3172"/>
                    <a:pt x="51397" y="8818"/>
                  </a:cubicBezTo>
                  <a:cubicBezTo>
                    <a:pt x="57043" y="14465"/>
                    <a:pt x="60215" y="22122"/>
                    <a:pt x="60215" y="30107"/>
                  </a:cubicBezTo>
                  <a:lnTo>
                    <a:pt x="60215" y="1336517"/>
                  </a:lnTo>
                  <a:cubicBezTo>
                    <a:pt x="60215" y="1353145"/>
                    <a:pt x="46735" y="1366625"/>
                    <a:pt x="30107" y="1366625"/>
                  </a:cubicBezTo>
                  <a:lnTo>
                    <a:pt x="30107" y="1366625"/>
                  </a:lnTo>
                  <a:cubicBezTo>
                    <a:pt x="13480" y="1366625"/>
                    <a:pt x="0" y="1353145"/>
                    <a:pt x="0" y="1336517"/>
                  </a:cubicBezTo>
                  <a:lnTo>
                    <a:pt x="0" y="30107"/>
                  </a:lnTo>
                  <a:cubicBezTo>
                    <a:pt x="0" y="13480"/>
                    <a:pt x="13480" y="0"/>
                    <a:pt x="30107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0215" cy="142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2700000">
            <a:off x="12492289" y="7796872"/>
            <a:ext cx="4767011" cy="4766183"/>
            <a:chOff x="0" y="0"/>
            <a:chExt cx="6356014" cy="635491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951803" y="954010"/>
              <a:ext cx="4450201" cy="4450201"/>
              <a:chOff x="0" y="0"/>
              <a:chExt cx="879052" cy="87905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79052" cy="879052"/>
              </a:xfrm>
              <a:custGeom>
                <a:avLst/>
                <a:gdLst/>
                <a:ahLst/>
                <a:cxnLst/>
                <a:rect r="r" b="b" t="t" l="l"/>
                <a:pathLst>
                  <a:path h="879052" w="879052">
                    <a:moveTo>
                      <a:pt x="11598" y="0"/>
                    </a:moveTo>
                    <a:lnTo>
                      <a:pt x="867454" y="0"/>
                    </a:lnTo>
                    <a:cubicBezTo>
                      <a:pt x="873860" y="0"/>
                      <a:pt x="879052" y="5193"/>
                      <a:pt x="879052" y="11598"/>
                    </a:cubicBezTo>
                    <a:lnTo>
                      <a:pt x="879052" y="867454"/>
                    </a:lnTo>
                    <a:cubicBezTo>
                      <a:pt x="879052" y="873860"/>
                      <a:pt x="873860" y="879052"/>
                      <a:pt x="867454" y="879052"/>
                    </a:cubicBezTo>
                    <a:lnTo>
                      <a:pt x="11598" y="879052"/>
                    </a:lnTo>
                    <a:cubicBezTo>
                      <a:pt x="5193" y="879052"/>
                      <a:pt x="0" y="873860"/>
                      <a:pt x="0" y="867454"/>
                    </a:cubicBezTo>
                    <a:lnTo>
                      <a:pt x="0" y="11598"/>
                    </a:lnTo>
                    <a:cubicBezTo>
                      <a:pt x="0" y="5193"/>
                      <a:pt x="5193" y="0"/>
                      <a:pt x="11598" y="0"/>
                    </a:cubicBezTo>
                    <a:close/>
                  </a:path>
                </a:pathLst>
              </a:custGeom>
              <a:solidFill>
                <a:srgbClr val="3468A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879052" cy="9171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816911" y="3819117"/>
              <a:ext cx="2534690" cy="253469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3816911" y="0"/>
              <a:ext cx="2539104" cy="2539104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207"/>
              <a:ext cx="2536897" cy="2536897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03" y="3819117"/>
              <a:ext cx="2535794" cy="2535794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951803" y="954010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258165" y="954010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258165" y="4260372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951803" y="4375309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468880" y="2468880"/>
            <a:ext cx="6217920" cy="2194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034"/>
              </a:lnSpc>
              <a:spcAft>
                <a:spcPts val="600"/>
              </a:spcAft>
              <a:defRPr sz="2100" b="1">
                <a:solidFill>
                  <a:srgbClr val="1F497D"/>
                </a:solidFill>
                <a:latin typeface="Poppins"/>
              </a:defRPr>
            </a:pPr>
            <a:r>
              <a:t>Dimensionamento de Storage</a:t>
            </a:r>
          </a:p>
          <a:p>
            <a:pPr>
              <a:defRPr sz="1600">
                <a:solidFill>
                  <a:srgbClr val="64748B"/>
                </a:solidFill>
                <a:latin typeface="Poppins"/>
              </a:defRPr>
            </a:pPr>
            <a:r>
              <a:t>TotalStorage = Contas × Cota (GB) com conversão dinâmica para Terabytes e margem técnica de segurança de 20%.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468880" y="5120640"/>
            <a:ext cx="6217920" cy="2194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082"/>
              </a:lnSpc>
              <a:spcAft>
                <a:spcPts val="600"/>
              </a:spcAft>
              <a:defRPr sz="2100" b="1">
                <a:solidFill>
                  <a:srgbClr val="1F497D"/>
                </a:solidFill>
                <a:latin typeface="Poppins"/>
              </a:defRPr>
            </a:pPr>
            <a:r>
              <a:t>Security Score (0 a 100)</a:t>
            </a:r>
          </a:p>
          <a:p>
            <a:pPr>
              <a:defRPr sz="1600">
                <a:solidFill>
                  <a:srgbClr val="64748B"/>
                </a:solidFill>
                <a:latin typeface="Poppins"/>
              </a:defRPr>
            </a:pPr>
            <a:r>
              <a:t>Algoritmo aditivo: Base 40 pts + SPF/DKIM/DMARC (+20) + Cloudflare WAF (+20) + TLS 1.3/2FA (+15) + Auditoria LGPD (+5).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881360" y="2468880"/>
            <a:ext cx="6217920" cy="2194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082"/>
              </a:lnSpc>
              <a:spcAft>
                <a:spcPts val="600"/>
              </a:spcAft>
              <a:defRPr sz="2100" b="1">
                <a:solidFill>
                  <a:srgbClr val="1F497D"/>
                </a:solidFill>
                <a:latin typeface="Poppins"/>
              </a:defRPr>
            </a:pPr>
            <a:r>
              <a:t>Matriz de SLA &amp; Resiliência</a:t>
            </a:r>
          </a:p>
          <a:p>
            <a:pPr>
              <a:defRPr sz="1600">
                <a:solidFill>
                  <a:srgbClr val="64748B"/>
                </a:solidFill>
                <a:latin typeface="Poppins"/>
              </a:defRPr>
            </a:pPr>
            <a:r>
              <a:t>RPO ≤ 1h e RTO ≤ 2h • Backup WORM SaveMail Pro (5 anos) • Disaster Recovery Multi-Região com failover em 15 min.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1371600" y="2560320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804420" w="804420">
                <a:moveTo>
                  <a:pt x="0" y="0"/>
                </a:moveTo>
                <a:lnTo>
                  <a:pt x="804421" y="0"/>
                </a:lnTo>
                <a:lnTo>
                  <a:pt x="804421" y="804421"/>
                </a:lnTo>
                <a:lnTo>
                  <a:pt x="0" y="8044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371600" y="5212080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1112003" w="1112003">
                <a:moveTo>
                  <a:pt x="0" y="0"/>
                </a:moveTo>
                <a:lnTo>
                  <a:pt x="1112003" y="0"/>
                </a:lnTo>
                <a:lnTo>
                  <a:pt x="1112003" y="1112003"/>
                </a:lnTo>
                <a:lnTo>
                  <a:pt x="0" y="11120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9784080" y="2560320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849580" w="849580">
                <a:moveTo>
                  <a:pt x="0" y="0"/>
                </a:moveTo>
                <a:lnTo>
                  <a:pt x="849580" y="0"/>
                </a:lnTo>
                <a:lnTo>
                  <a:pt x="849580" y="849580"/>
                </a:lnTo>
                <a:lnTo>
                  <a:pt x="0" y="8495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0881360" y="5120640"/>
            <a:ext cx="6217920" cy="2194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082"/>
              </a:lnSpc>
              <a:spcAft>
                <a:spcPts val="600"/>
              </a:spcAft>
              <a:defRPr sz="2100" b="1">
                <a:solidFill>
                  <a:srgbClr val="1F497D"/>
                </a:solidFill>
                <a:latin typeface="Poppins"/>
              </a:defRPr>
            </a:pPr>
            <a:r>
              <a:t>Automação DevOps &amp; IaC</a:t>
            </a:r>
          </a:p>
          <a:p>
            <a:pPr>
              <a:defRPr sz="1600">
                <a:solidFill>
                  <a:srgbClr val="64748B"/>
                </a:solidFill>
                <a:latin typeface="Poppins"/>
              </a:defRPr>
            </a:pPr>
            <a:r>
              <a:t>Payload JSON v2.0 com especificações técnicas prontas para Ansible Playbooks (AlmaLinux) e Terraform (AWS/OCI).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9784080" y="5212080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892889" w="892889">
                <a:moveTo>
                  <a:pt x="0" y="0"/>
                </a:moveTo>
                <a:lnTo>
                  <a:pt x="892889" y="0"/>
                </a:lnTo>
                <a:lnTo>
                  <a:pt x="892889" y="892889"/>
                </a:lnTo>
                <a:lnTo>
                  <a:pt x="0" y="8928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005840" y="914400"/>
            <a:ext cx="10972800" cy="75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2"/>
              </a:lnSpc>
              <a:defRPr sz="3200" b="1">
                <a:solidFill>
                  <a:srgbClr val="3468A2"/>
                </a:solidFill>
                <a:latin typeface="Poppins"/>
              </a:defRPr>
            </a:pPr>
            <a:r>
              <a:t>REGRAS DE CÁLCULO &amp; AUTOMAÇÃO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>
              <a:defRPr sz="1400" b="1">
                <a:solidFill>
                  <a:srgbClr val="3468A2"/>
                </a:solidFill>
                <a:latin typeface="Poppin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DAHQ0ALt0Dw</dc:identifier>
  <dcterms:modified xsi:type="dcterms:W3CDTF">2011-08-01T06:04:30Z</dcterms:modified>
  <cp:revision>1</cp:revision>
  <dc:title>PADRAO</dc:title>
</cp:coreProperties>
</file>